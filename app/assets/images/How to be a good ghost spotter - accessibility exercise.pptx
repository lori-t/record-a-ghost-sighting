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610" r:id="rId2"/>
    <p:sldId id="613" r:id="rId3"/>
    <p:sldId id="565" r:id="rId4"/>
    <p:sldId id="563" r:id="rId5"/>
    <p:sldId id="566" r:id="rId6"/>
    <p:sldId id="567" r:id="rId7"/>
    <p:sldId id="568" r:id="rId8"/>
    <p:sldId id="569" r:id="rId9"/>
    <p:sldId id="570" r:id="rId10"/>
    <p:sldId id="571" r:id="rId11"/>
    <p:sldId id="572" r:id="rId12"/>
    <p:sldId id="614" r:id="rId1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100"/>
    <a:srgbClr val="1B103A"/>
    <a:srgbClr val="4B2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89903" autoAdjust="0"/>
  </p:normalViewPr>
  <p:slideViewPr>
    <p:cSldViewPr snapToGrid="0">
      <p:cViewPr varScale="1">
        <p:scale>
          <a:sx n="66" d="100"/>
          <a:sy n="66" d="100"/>
        </p:scale>
        <p:origin x="4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483B01-6E99-4804-9304-E3A816DDC2A4}" type="datetimeFigureOut">
              <a:t>11/6/2025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9DAC96-DD07-4E64-AF21-C601AB77BA83}" type="slidenum">
              <a:t>‹#›</a:t>
            </a:fld>
            <a:endParaRPr lang="en-GB"/>
          </a:p>
        </p:txBody>
      </p:sp>
    </p:spTree>
    <p:extLst>
      <p:ext uri="{BB962C8B-B14F-4D97-AF65-F5344CB8AC3E}">
        <p14:creationId xmlns:p14="http://schemas.microsoft.com/office/powerpoint/2010/main" val="766534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Welcome everyone to the session. Today we’re going to learn </a:t>
            </a:r>
            <a:r>
              <a:rPr lang="en-GB" b="1" dirty="0"/>
              <a:t>basic accessibility testing</a:t>
            </a:r>
            <a:r>
              <a:rPr lang="en-GB" dirty="0"/>
              <a:t> in a fun way. The theme is </a:t>
            </a:r>
            <a:r>
              <a:rPr lang="en-GB" b="1" dirty="0"/>
              <a:t>“How to be a good ghost spotter”</a:t>
            </a:r>
            <a:r>
              <a:rPr lang="en-GB" dirty="0"/>
              <a:t> – we’ll treat accessibility issues like ghosts hiding in a service. This is an introduction to quick checks, not a full audit. The goal is to help you spot common accessibility problems and understand why they matter. By the end, you’ll feel more confident doing simple checks before handing work over for a full review.</a:t>
            </a:r>
          </a:p>
        </p:txBody>
      </p:sp>
      <p:sp>
        <p:nvSpPr>
          <p:cNvPr id="4" name="Slide Number Placeholder 3"/>
          <p:cNvSpPr>
            <a:spLocks noGrp="1"/>
          </p:cNvSpPr>
          <p:nvPr>
            <p:ph type="sldNum" sz="quarter" idx="5"/>
          </p:nvPr>
        </p:nvSpPr>
        <p:spPr/>
        <p:txBody>
          <a:bodyPr/>
          <a:lstStyle/>
          <a:p>
            <a:fld id="{859DAC96-DD07-4E64-AF21-C601AB77BA83}" type="slidenum">
              <a:rPr lang="en-GB" smtClean="0"/>
              <a:t>1</a:t>
            </a:fld>
            <a:endParaRPr lang="en-GB"/>
          </a:p>
        </p:txBody>
      </p:sp>
    </p:spTree>
    <p:extLst>
      <p:ext uri="{BB962C8B-B14F-4D97-AF65-F5344CB8AC3E}">
        <p14:creationId xmlns:p14="http://schemas.microsoft.com/office/powerpoint/2010/main" val="3730973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0A4DB-505A-B552-4002-5D458584D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6253C-1565-9988-8625-8CF9AA3038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BD9E87C-7052-313D-7B75-FE0DCEC5CEB6}"/>
              </a:ext>
            </a:extLst>
          </p:cNvPr>
          <p:cNvSpPr>
            <a:spLocks noGrp="1"/>
          </p:cNvSpPr>
          <p:nvPr>
            <p:ph type="body" idx="1"/>
          </p:nvPr>
        </p:nvSpPr>
        <p:spPr/>
        <p:txBody>
          <a:bodyPr/>
          <a:lstStyle/>
          <a:p>
            <a:pPr rtl="0" fontAlgn="base"/>
            <a:r>
              <a:rPr lang="en-GB" dirty="0"/>
              <a:t>This exercise is called </a:t>
            </a:r>
            <a:r>
              <a:rPr lang="en-GB" b="1" dirty="0"/>
              <a:t>“Record a ghost sighting”</a:t>
            </a:r>
            <a:r>
              <a:rPr lang="en-GB" dirty="0"/>
              <a:t>. The idea is to make accessibility testing engaging by using a spooky theme. The service is intentionally designed with accessibility issues for participants to find. Each page may have one or more issues, and some will be harder to spot than others. The goal is to identify all issues and earn the </a:t>
            </a:r>
            <a:r>
              <a:rPr lang="en-GB" b="1" dirty="0"/>
              <a:t>“Ghost spotter’s badge”</a:t>
            </a:r>
            <a:r>
              <a:rPr lang="en-GB" dirty="0"/>
              <a:t>. This activity helps participants understand how accessibility problems impact users and encourages quick checks at an early stage prior to completing full audits.</a:t>
            </a:r>
          </a:p>
        </p:txBody>
      </p:sp>
      <p:sp>
        <p:nvSpPr>
          <p:cNvPr id="4" name="Slide Number Placeholder 3">
            <a:extLst>
              <a:ext uri="{FF2B5EF4-FFF2-40B4-BE49-F238E27FC236}">
                <a16:creationId xmlns:a16="http://schemas.microsoft.com/office/drawing/2014/main" id="{996172A6-4226-7689-4BDE-D8125D1B1D3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26262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rtl="0" fontAlgn="base"/>
            <a:r>
              <a:rPr lang="en-GB" dirty="0"/>
              <a:t>It’s important to stress that this is </a:t>
            </a:r>
            <a:r>
              <a:rPr lang="en-GB" b="1" dirty="0"/>
              <a:t>not a full accessibility audit</a:t>
            </a:r>
            <a:r>
              <a:rPr lang="en-GB" dirty="0"/>
              <a:t>. The checks we’ll cover are </a:t>
            </a:r>
            <a:r>
              <a:rPr lang="en-GB" b="1" dirty="0"/>
              <a:t>basic and quick</a:t>
            </a:r>
            <a:r>
              <a:rPr lang="en-GB" dirty="0"/>
              <a:t>, designed to help you spot common issues early. These quick checks can highlight how accessibility problems affect real users. They’re useful for designers, developers, and anyone who wants to improve accessibility before a formal review. Think of this as a practical introduction to accessibility awareness rather than compliance testing.</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6291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We’ll use the </a:t>
            </a:r>
            <a:r>
              <a:rPr lang="en-GB" b="1" dirty="0"/>
              <a:t>WAVE accessibility plugin</a:t>
            </a:r>
            <a:r>
              <a:rPr lang="en-GB" dirty="0"/>
              <a:t> as our main tool. WAVE gives a quick automated check, but remember it only finds some issues. We’ll also do </a:t>
            </a:r>
            <a:r>
              <a:rPr lang="en-GB" b="1" dirty="0"/>
              <a:t>keyboard-only testing</a:t>
            </a:r>
            <a:r>
              <a:rPr lang="en-GB" dirty="0"/>
              <a:t> to check navigation without a mouse. If you have extra skills, you can try other methods like: Inspecting the code</a:t>
            </a:r>
          </a:p>
          <a:p>
            <a:r>
              <a:rPr lang="en-GB" dirty="0"/>
              <a:t>Using assistive technology</a:t>
            </a:r>
          </a:p>
          <a:p>
            <a:r>
              <a:rPr lang="en-GB" dirty="0"/>
              <a:t>The goal is to show how different approaches reveal different problems.</a:t>
            </a:r>
          </a:p>
        </p:txBody>
      </p:sp>
      <p:sp>
        <p:nvSpPr>
          <p:cNvPr id="4" name="Slide Number Placeholder 3"/>
          <p:cNvSpPr>
            <a:spLocks noGrp="1"/>
          </p:cNvSpPr>
          <p:nvPr>
            <p:ph type="sldNum" sz="quarter" idx="5"/>
          </p:nvPr>
        </p:nvSpPr>
        <p:spPr/>
        <p:txBody>
          <a:bodyPr/>
          <a:lstStyle/>
          <a:p>
            <a:fld id="{859DAC96-DD07-4E64-AF21-C601AB77BA83}" type="slidenum">
              <a:rPr lang="en-GB" smtClean="0"/>
              <a:t>4</a:t>
            </a:fld>
            <a:endParaRPr lang="en-GB"/>
          </a:p>
        </p:txBody>
      </p:sp>
    </p:spTree>
    <p:extLst>
      <p:ext uri="{BB962C8B-B14F-4D97-AF65-F5344CB8AC3E}">
        <p14:creationId xmlns:p14="http://schemas.microsoft.com/office/powerpoint/2010/main" val="2326015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b="1" dirty="0"/>
              <a:t>WAVE</a:t>
            </a:r>
            <a:r>
              <a:rPr lang="en-GB" dirty="0"/>
              <a:t>, is an automated accessibility checking tool., there are lots of different automated testing tools so you could use whichever you find easiest. </a:t>
            </a:r>
          </a:p>
          <a:p>
            <a:endParaRPr lang="en-GB" dirty="0"/>
          </a:p>
          <a:p>
            <a:r>
              <a:rPr lang="en-GB" dirty="0"/>
              <a:t>WAVE is useful for quick checks but remember: It only detects about </a:t>
            </a:r>
            <a:r>
              <a:rPr lang="en-GB" b="1" dirty="0"/>
              <a:t>20–30% of accessibility issues</a:t>
            </a:r>
            <a:r>
              <a:rPr lang="en-GB" dirty="0"/>
              <a:t>.</a:t>
            </a:r>
          </a:p>
          <a:p>
            <a:r>
              <a:rPr lang="en-GB" dirty="0"/>
              <a:t>Automated tools can’t replace manual testing.</a:t>
            </a:r>
          </a:p>
          <a:p>
            <a:r>
              <a:rPr lang="en-GB" dirty="0"/>
              <a:t>Use WAVE to get an </a:t>
            </a:r>
            <a:r>
              <a:rPr lang="en-GB" b="1" dirty="0"/>
              <a:t>initial idea of accessibility</a:t>
            </a:r>
            <a:r>
              <a:rPr lang="en-GB" dirty="0"/>
              <a:t> before doing deeper checks. It’s a good starting point for spotting obvious problems like missing alt text or contrast issues. After WAVE, we’ll combine this with </a:t>
            </a:r>
            <a:r>
              <a:rPr lang="en-GB" b="1" dirty="0"/>
              <a:t>keyboard testing</a:t>
            </a:r>
            <a:r>
              <a:rPr lang="en-GB" dirty="0"/>
              <a:t> for a more complete picture</a:t>
            </a:r>
          </a:p>
          <a:p>
            <a:endParaRPr lang="en-GB" dirty="0"/>
          </a:p>
          <a:p>
            <a:r>
              <a:rPr lang="en-GB" dirty="0"/>
              <a:t>The </a:t>
            </a:r>
            <a:r>
              <a:rPr lang="en-GB" b="1" dirty="0"/>
              <a:t>Details tab in WAVE</a:t>
            </a:r>
            <a:r>
              <a:rPr lang="en-GB" dirty="0"/>
              <a:t> provides a comprehensive list of all detected accessibility issues on the page. It breaks down errors, alerts, and features into categories such as:</a:t>
            </a:r>
          </a:p>
          <a:p>
            <a:r>
              <a:rPr lang="en-GB" b="1" dirty="0"/>
              <a:t>Errors</a:t>
            </a:r>
            <a:r>
              <a:rPr lang="en-GB" dirty="0"/>
              <a:t> – Critical issues that fail WCAG standards (for example, missing alt text, empty links).</a:t>
            </a:r>
          </a:p>
          <a:p>
            <a:r>
              <a:rPr lang="en-GB" b="1" dirty="0"/>
              <a:t>Alerts</a:t>
            </a:r>
            <a:r>
              <a:rPr lang="en-GB" dirty="0"/>
              <a:t> – Potential problems that need manual review (for example, suspicious heading structure).</a:t>
            </a:r>
          </a:p>
          <a:p>
            <a:r>
              <a:rPr lang="en-GB" b="1" dirty="0"/>
              <a:t>Features</a:t>
            </a:r>
            <a:r>
              <a:rPr lang="en-GB" dirty="0"/>
              <a:t> – Accessibility elements present (for example, ARIA landmarks, headings).</a:t>
            </a:r>
          </a:p>
          <a:p>
            <a:r>
              <a:rPr lang="en-GB" b="1" dirty="0"/>
              <a:t>Structural Elements</a:t>
            </a:r>
            <a:r>
              <a:rPr lang="en-GB" dirty="0"/>
              <a:t> – Lists, headings, and regions that define page hierarchy.</a:t>
            </a:r>
          </a:p>
          <a:p>
            <a:r>
              <a:rPr lang="en-GB" b="1" dirty="0"/>
              <a:t>Contrast Issues</a:t>
            </a:r>
            <a:r>
              <a:rPr lang="en-GB" dirty="0"/>
              <a:t> – Low colour contrast warnings.</a:t>
            </a:r>
          </a:p>
          <a:p>
            <a:r>
              <a:rPr lang="en-GB" dirty="0"/>
              <a:t>This tab is useful because it gives you a quick overview of what needs fixing and what is already implemented correctly. It’s a starting point for prioritising fixes before deeper manual testing.</a:t>
            </a:r>
          </a:p>
          <a:p>
            <a:endParaRPr lang="en-GB" dirty="0"/>
          </a:p>
        </p:txBody>
      </p:sp>
      <p:sp>
        <p:nvSpPr>
          <p:cNvPr id="4" name="Slide Number Placeholder 3"/>
          <p:cNvSpPr>
            <a:spLocks noGrp="1"/>
          </p:cNvSpPr>
          <p:nvPr>
            <p:ph type="sldNum" sz="quarter" idx="5"/>
          </p:nvPr>
        </p:nvSpPr>
        <p:spPr/>
        <p:txBody>
          <a:bodyPr/>
          <a:lstStyle/>
          <a:p>
            <a:fld id="{859DAC96-DD07-4E64-AF21-C601AB77BA83}" type="slidenum">
              <a:rPr lang="en-GB" smtClean="0"/>
              <a:t>5</a:t>
            </a:fld>
            <a:endParaRPr lang="en-GB"/>
          </a:p>
        </p:txBody>
      </p:sp>
    </p:spTree>
    <p:extLst>
      <p:ext uri="{BB962C8B-B14F-4D97-AF65-F5344CB8AC3E}">
        <p14:creationId xmlns:p14="http://schemas.microsoft.com/office/powerpoint/2010/main" val="371847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Order tab shows the </a:t>
            </a:r>
            <a:r>
              <a:rPr lang="en-GB" b="1" dirty="0"/>
              <a:t>reading and navigation order</a:t>
            </a:r>
            <a:r>
              <a:rPr lang="en-GB" dirty="0"/>
              <a:t> of elements on the page. This is critical for: </a:t>
            </a:r>
            <a:r>
              <a:rPr lang="en-GB" b="1" dirty="0"/>
              <a:t>Screen reader users</a:t>
            </a:r>
            <a:r>
              <a:rPr lang="en-GB" dirty="0"/>
              <a:t>, who rely on logical reading order.</a:t>
            </a:r>
          </a:p>
          <a:p>
            <a:r>
              <a:rPr lang="en-GB" b="1" dirty="0"/>
              <a:t>Keyboard users</a:t>
            </a:r>
            <a:r>
              <a:rPr lang="en-GB" dirty="0"/>
              <a:t>, who need predictable tab order.</a:t>
            </a:r>
          </a:p>
          <a:p>
            <a:r>
              <a:rPr lang="en-GB" dirty="0"/>
              <a:t>If the order is incorrect, users can get lost or miss important content. When reviewing the Order tab: Check that headings, form fields, and interactive elements follow a logical sequence.</a:t>
            </a:r>
          </a:p>
          <a:p>
            <a:r>
              <a:rPr lang="en-GB" dirty="0"/>
              <a:t>Make sure the visual layout matches the reading order.</a:t>
            </a:r>
          </a:p>
          <a:p>
            <a:r>
              <a:rPr lang="en-GB" dirty="0"/>
              <a:t>This is one of the most important checks for usability and accessibility.</a:t>
            </a:r>
          </a:p>
        </p:txBody>
      </p:sp>
      <p:sp>
        <p:nvSpPr>
          <p:cNvPr id="4" name="Slide Number Placeholder 3"/>
          <p:cNvSpPr>
            <a:spLocks noGrp="1"/>
          </p:cNvSpPr>
          <p:nvPr>
            <p:ph type="sldNum" sz="quarter" idx="5"/>
          </p:nvPr>
        </p:nvSpPr>
        <p:spPr/>
        <p:txBody>
          <a:bodyPr/>
          <a:lstStyle/>
          <a:p>
            <a:fld id="{859DAC96-DD07-4E64-AF21-C601AB77BA83}" type="slidenum">
              <a:rPr lang="en-GB" smtClean="0"/>
              <a:t>6</a:t>
            </a:fld>
            <a:endParaRPr lang="en-GB"/>
          </a:p>
        </p:txBody>
      </p:sp>
    </p:spTree>
    <p:extLst>
      <p:ext uri="{BB962C8B-B14F-4D97-AF65-F5344CB8AC3E}">
        <p14:creationId xmlns:p14="http://schemas.microsoft.com/office/powerpoint/2010/main" val="3905993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highlights two important WAVE tabs: </a:t>
            </a:r>
            <a:r>
              <a:rPr lang="en-GB" b="1" dirty="0"/>
              <a:t>Structure</a:t>
            </a:r>
            <a:r>
              <a:rPr lang="en-GB" dirty="0"/>
              <a:t> and </a:t>
            </a:r>
            <a:r>
              <a:rPr lang="en-GB" b="1" dirty="0"/>
              <a:t>Contrast</a:t>
            </a:r>
            <a:r>
              <a:rPr lang="en-GB" dirty="0"/>
              <a:t>. </a:t>
            </a:r>
            <a:r>
              <a:rPr lang="en-GB" b="1" dirty="0"/>
              <a:t>Structure tab</a:t>
            </a:r>
            <a:r>
              <a:rPr lang="en-GB" dirty="0"/>
              <a:t>: Shows headings, landmarks, and regions.</a:t>
            </a:r>
          </a:p>
          <a:p>
            <a:r>
              <a:rPr lang="en-GB" dirty="0"/>
              <a:t>Helps check if the content hierarchy is logical and consistent.</a:t>
            </a:r>
          </a:p>
          <a:p>
            <a:r>
              <a:rPr lang="en-GB" dirty="0"/>
              <a:t>Good structure supports screen reader navigation and improves usability.</a:t>
            </a:r>
          </a:p>
          <a:p>
            <a:r>
              <a:rPr lang="en-GB" b="1" dirty="0"/>
              <a:t>Contrast tab</a:t>
            </a:r>
            <a:r>
              <a:rPr lang="en-GB" dirty="0"/>
              <a:t>: Checks colour contrast between text and background.</a:t>
            </a:r>
          </a:p>
          <a:p>
            <a:r>
              <a:rPr lang="en-GB" dirty="0"/>
              <a:t>Low contrast makes text hard to read for people with visual impairments.</a:t>
            </a:r>
          </a:p>
          <a:p>
            <a:r>
              <a:rPr lang="en-GB" dirty="0"/>
              <a:t>WCAG requires a minimum contrast ratio of </a:t>
            </a:r>
            <a:r>
              <a:rPr lang="en-GB" b="1" dirty="0"/>
              <a:t>4.5:1 for normal text</a:t>
            </a:r>
            <a:r>
              <a:rPr lang="en-GB" dirty="0"/>
              <a:t> and </a:t>
            </a:r>
            <a:r>
              <a:rPr lang="en-GB" b="1" dirty="0"/>
              <a:t>3:1 for large text</a:t>
            </a:r>
            <a:r>
              <a:rPr lang="en-GB" dirty="0"/>
              <a:t>.</a:t>
            </a:r>
          </a:p>
          <a:p>
            <a:r>
              <a:rPr lang="en-GB" b="1" dirty="0"/>
              <a:t>Tip: Turn styles off</a:t>
            </a:r>
            <a:r>
              <a:rPr lang="en-GB" dirty="0"/>
              <a:t>: WAVE lets you disable CSS styles.</a:t>
            </a:r>
          </a:p>
          <a:p>
            <a:r>
              <a:rPr lang="en-GB" dirty="0"/>
              <a:t>This is useful because it shows the raw HTML structure without visual design.</a:t>
            </a:r>
          </a:p>
          <a:p>
            <a:r>
              <a:rPr lang="en-GB" dirty="0"/>
              <a:t>It helps confirm if headings, landmarks, and reading order make sense without relying on styling.</a:t>
            </a:r>
          </a:p>
          <a:p>
            <a:r>
              <a:rPr lang="en-GB" dirty="0"/>
              <a:t>If the page becomes confusing without styles, it may indicate poor semantic structure.</a:t>
            </a:r>
          </a:p>
        </p:txBody>
      </p:sp>
      <p:sp>
        <p:nvSpPr>
          <p:cNvPr id="4" name="Slide Number Placeholder 3"/>
          <p:cNvSpPr>
            <a:spLocks noGrp="1"/>
          </p:cNvSpPr>
          <p:nvPr>
            <p:ph type="sldNum" sz="quarter" idx="5"/>
          </p:nvPr>
        </p:nvSpPr>
        <p:spPr/>
        <p:txBody>
          <a:bodyPr/>
          <a:lstStyle/>
          <a:p>
            <a:fld id="{859DAC96-DD07-4E64-AF21-C601AB77BA83}" type="slidenum">
              <a:rPr lang="en-GB" smtClean="0"/>
              <a:t>7</a:t>
            </a:fld>
            <a:endParaRPr lang="en-GB"/>
          </a:p>
        </p:txBody>
      </p:sp>
    </p:spTree>
    <p:extLst>
      <p:ext uri="{BB962C8B-B14F-4D97-AF65-F5344CB8AC3E}">
        <p14:creationId xmlns:p14="http://schemas.microsoft.com/office/powerpoint/2010/main" val="3350691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introduces </a:t>
            </a:r>
            <a:r>
              <a:rPr lang="en-GB" b="1" dirty="0"/>
              <a:t>keyboard-only testing</a:t>
            </a:r>
            <a:r>
              <a:rPr lang="en-GB" dirty="0"/>
              <a:t>, which is essential for accessibility. Why it matters: Many users rely on keyboards instead of a mouse, including screen reader users and people with motor impairments. This is only very basic keyboard testing that we’ll go through today, there are many more different commands that can be used. </a:t>
            </a:r>
          </a:p>
          <a:p>
            <a:endParaRPr lang="en-GB" dirty="0"/>
          </a:p>
          <a:p>
            <a:r>
              <a:rPr lang="en-GB" dirty="0"/>
              <a:t>How to start: Begin in the browser address bar.</a:t>
            </a:r>
          </a:p>
          <a:p>
            <a:r>
              <a:rPr lang="en-GB" dirty="0"/>
              <a:t>Take your hand off the mouse (and trackpad).</a:t>
            </a:r>
          </a:p>
          <a:p>
            <a:r>
              <a:rPr lang="en-GB" dirty="0"/>
              <a:t>Use the </a:t>
            </a:r>
            <a:r>
              <a:rPr lang="en-GB" b="1" dirty="0"/>
              <a:t>Tab key</a:t>
            </a:r>
            <a:r>
              <a:rPr lang="en-GB" dirty="0"/>
              <a:t> to move through interactive elements: Links, buttons, form fields.</a:t>
            </a:r>
          </a:p>
          <a:p>
            <a:r>
              <a:rPr lang="en-GB" dirty="0"/>
              <a:t>Use </a:t>
            </a:r>
            <a:r>
              <a:rPr lang="en-GB" b="1" dirty="0"/>
              <a:t>arrow keys, space, and enter</a:t>
            </a:r>
            <a:r>
              <a:rPr lang="en-GB" dirty="0"/>
              <a:t> to interact: Navigate menus, select options, activate controls.</a:t>
            </a:r>
          </a:p>
          <a:p>
            <a:r>
              <a:rPr lang="en-GB" dirty="0"/>
              <a:t>The goal is to check: Can you reach all interactive elements?</a:t>
            </a:r>
          </a:p>
          <a:p>
            <a:r>
              <a:rPr lang="en-GB" dirty="0"/>
              <a:t>Is the focus visible and logical?</a:t>
            </a:r>
          </a:p>
          <a:p>
            <a:r>
              <a:rPr lang="en-GB" dirty="0"/>
              <a:t>Can you complete tasks without a mouse?</a:t>
            </a:r>
          </a:p>
          <a:p>
            <a:r>
              <a:rPr lang="en-GB" dirty="0"/>
              <a:t>If something is hard or impossible to do with a keyboard, it’s an accessibility issue.</a:t>
            </a:r>
          </a:p>
        </p:txBody>
      </p:sp>
      <p:sp>
        <p:nvSpPr>
          <p:cNvPr id="4" name="Slide Number Placeholder 3"/>
          <p:cNvSpPr>
            <a:spLocks noGrp="1"/>
          </p:cNvSpPr>
          <p:nvPr>
            <p:ph type="sldNum" sz="quarter" idx="5"/>
          </p:nvPr>
        </p:nvSpPr>
        <p:spPr/>
        <p:txBody>
          <a:bodyPr/>
          <a:lstStyle/>
          <a:p>
            <a:fld id="{859DAC96-DD07-4E64-AF21-C601AB77BA83}" type="slidenum">
              <a:rPr lang="en-GB" smtClean="0"/>
              <a:t>8</a:t>
            </a:fld>
            <a:endParaRPr lang="en-GB"/>
          </a:p>
        </p:txBody>
      </p:sp>
    </p:spTree>
    <p:extLst>
      <p:ext uri="{BB962C8B-B14F-4D97-AF65-F5344CB8AC3E}">
        <p14:creationId xmlns:p14="http://schemas.microsoft.com/office/powerpoint/2010/main" val="329985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This slide lists </a:t>
            </a:r>
            <a:r>
              <a:rPr lang="en-GB" sz="1200" b="1" i="0" kern="1200" dirty="0">
                <a:solidFill>
                  <a:schemeClr val="tx1"/>
                </a:solidFill>
                <a:effectLst/>
                <a:latin typeface="+mn-lt"/>
                <a:ea typeface="+mn-ea"/>
                <a:cs typeface="+mn-cs"/>
              </a:rPr>
              <a:t>common keyboard commands</a:t>
            </a:r>
            <a:r>
              <a:rPr lang="en-GB" sz="1200" b="0" i="0" kern="1200" dirty="0">
                <a:solidFill>
                  <a:schemeClr val="tx1"/>
                </a:solidFill>
                <a:effectLst/>
                <a:latin typeface="+mn-lt"/>
                <a:ea typeface="+mn-ea"/>
                <a:cs typeface="+mn-cs"/>
              </a:rPr>
              <a:t> for accessibility testing.</a:t>
            </a:r>
          </a:p>
          <a:p>
            <a:r>
              <a:rPr lang="en-GB" sz="1200" b="0" i="0" kern="1200" dirty="0">
                <a:solidFill>
                  <a:schemeClr val="tx1"/>
                </a:solidFill>
                <a:effectLst/>
                <a:latin typeface="+mn-lt"/>
                <a:ea typeface="+mn-ea"/>
                <a:cs typeface="+mn-cs"/>
              </a:rPr>
              <a:t>Why this matters:</a:t>
            </a:r>
          </a:p>
          <a:p>
            <a:pPr lvl="1"/>
            <a:r>
              <a:rPr lang="en-GB" sz="1200" b="0" i="0" kern="1200" dirty="0">
                <a:solidFill>
                  <a:schemeClr val="tx1"/>
                </a:solidFill>
                <a:effectLst/>
                <a:latin typeface="+mn-lt"/>
                <a:ea typeface="+mn-ea"/>
                <a:cs typeface="+mn-cs"/>
              </a:rPr>
              <a:t>Many users rely on keyboards, so everything must be operable without a mouse.</a:t>
            </a:r>
          </a:p>
          <a:p>
            <a:r>
              <a:rPr lang="en-GB" sz="1200" b="0" i="0" kern="1200" dirty="0">
                <a:solidFill>
                  <a:schemeClr val="tx1"/>
                </a:solidFill>
                <a:effectLst/>
                <a:latin typeface="+mn-lt"/>
                <a:ea typeface="+mn-ea"/>
                <a:cs typeface="+mn-cs"/>
              </a:rPr>
              <a:t>Key commands to remember:</a:t>
            </a:r>
          </a:p>
          <a:p>
            <a:pPr lvl="1"/>
            <a:r>
              <a:rPr lang="en-GB" sz="1200" b="1" i="0" kern="1200" dirty="0">
                <a:solidFill>
                  <a:schemeClr val="tx1"/>
                </a:solidFill>
                <a:effectLst/>
                <a:latin typeface="+mn-lt"/>
                <a:ea typeface="+mn-ea"/>
                <a:cs typeface="+mn-cs"/>
              </a:rPr>
              <a:t>Tab</a:t>
            </a:r>
            <a:r>
              <a:rPr lang="en-GB" sz="1200" b="0" i="0" kern="1200" dirty="0">
                <a:solidFill>
                  <a:schemeClr val="tx1"/>
                </a:solidFill>
                <a:effectLst/>
                <a:latin typeface="+mn-lt"/>
                <a:ea typeface="+mn-ea"/>
                <a:cs typeface="+mn-cs"/>
              </a:rPr>
              <a:t> – Move to the next focusable element.</a:t>
            </a:r>
          </a:p>
          <a:p>
            <a:pPr lvl="1"/>
            <a:r>
              <a:rPr lang="en-GB" sz="1200" b="1" i="0" kern="1200" dirty="0">
                <a:solidFill>
                  <a:schemeClr val="tx1"/>
                </a:solidFill>
                <a:effectLst/>
                <a:latin typeface="+mn-lt"/>
                <a:ea typeface="+mn-ea"/>
                <a:cs typeface="+mn-cs"/>
              </a:rPr>
              <a:t>Shift + Tab</a:t>
            </a:r>
            <a:r>
              <a:rPr lang="en-GB" sz="1200" b="0" i="0" kern="1200" dirty="0">
                <a:solidFill>
                  <a:schemeClr val="tx1"/>
                </a:solidFill>
                <a:effectLst/>
                <a:latin typeface="+mn-lt"/>
                <a:ea typeface="+mn-ea"/>
                <a:cs typeface="+mn-cs"/>
              </a:rPr>
              <a:t> – Move to the previous element.</a:t>
            </a:r>
          </a:p>
          <a:p>
            <a:pPr lvl="1"/>
            <a:r>
              <a:rPr lang="en-GB" sz="1200" b="1" i="0" kern="1200" dirty="0">
                <a:solidFill>
                  <a:schemeClr val="tx1"/>
                </a:solidFill>
                <a:effectLst/>
                <a:latin typeface="+mn-lt"/>
                <a:ea typeface="+mn-ea"/>
                <a:cs typeface="+mn-cs"/>
              </a:rPr>
              <a:t>Arrow keys</a:t>
            </a:r>
            <a:r>
              <a:rPr lang="en-GB" sz="1200" b="0" i="0" kern="1200" dirty="0">
                <a:solidFill>
                  <a:schemeClr val="tx1"/>
                </a:solidFill>
                <a:effectLst/>
                <a:latin typeface="+mn-lt"/>
                <a:ea typeface="+mn-ea"/>
                <a:cs typeface="+mn-cs"/>
              </a:rPr>
              <a:t> – Scroll the page or move between items like lists, tabs, and radio buttons.</a:t>
            </a:r>
          </a:p>
          <a:p>
            <a:pPr lvl="1"/>
            <a:r>
              <a:rPr lang="en-GB" sz="1200" b="1" i="0" kern="1200" dirty="0">
                <a:solidFill>
                  <a:schemeClr val="tx1"/>
                </a:solidFill>
                <a:effectLst/>
                <a:latin typeface="+mn-lt"/>
                <a:ea typeface="+mn-ea"/>
                <a:cs typeface="+mn-cs"/>
              </a:rPr>
              <a:t>Space</a:t>
            </a:r>
            <a:r>
              <a:rPr lang="en-GB" sz="1200" b="0" i="0" kern="1200" dirty="0">
                <a:solidFill>
                  <a:schemeClr val="tx1"/>
                </a:solidFill>
                <a:effectLst/>
                <a:latin typeface="+mn-lt"/>
                <a:ea typeface="+mn-ea"/>
                <a:cs typeface="+mn-cs"/>
              </a:rPr>
              <a:t> – Open dropdowns, check/uncheck checkboxes, or scroll down.</a:t>
            </a:r>
          </a:p>
          <a:p>
            <a:pPr lvl="1"/>
            <a:r>
              <a:rPr lang="en-GB" sz="1200" b="1" i="0" kern="1200" dirty="0">
                <a:solidFill>
                  <a:schemeClr val="tx1"/>
                </a:solidFill>
                <a:effectLst/>
                <a:latin typeface="+mn-lt"/>
                <a:ea typeface="+mn-ea"/>
                <a:cs typeface="+mn-cs"/>
              </a:rPr>
              <a:t>Enter</a:t>
            </a:r>
            <a:r>
              <a:rPr lang="en-GB" sz="1200" b="0" i="0" kern="1200" dirty="0">
                <a:solidFill>
                  <a:schemeClr val="tx1"/>
                </a:solidFill>
                <a:effectLst/>
                <a:latin typeface="+mn-lt"/>
                <a:ea typeface="+mn-ea"/>
                <a:cs typeface="+mn-cs"/>
              </a:rPr>
              <a:t> – Activate links, buttons, or select items in dropdowns.</a:t>
            </a:r>
          </a:p>
          <a:p>
            <a:pPr lvl="1"/>
            <a:r>
              <a:rPr lang="en-GB" sz="1200" b="1" i="0" kern="1200" dirty="0">
                <a:solidFill>
                  <a:schemeClr val="tx1"/>
                </a:solidFill>
                <a:effectLst/>
                <a:latin typeface="+mn-lt"/>
                <a:ea typeface="+mn-ea"/>
                <a:cs typeface="+mn-cs"/>
              </a:rPr>
              <a:t>Esc</a:t>
            </a:r>
            <a:r>
              <a:rPr lang="en-GB" sz="1200" b="0" i="0" kern="1200" dirty="0">
                <a:solidFill>
                  <a:schemeClr val="tx1"/>
                </a:solidFill>
                <a:effectLst/>
                <a:latin typeface="+mn-lt"/>
                <a:ea typeface="+mn-ea"/>
                <a:cs typeface="+mn-cs"/>
              </a:rPr>
              <a:t> – Close dialogs or cancel prompts.</a:t>
            </a:r>
          </a:p>
          <a:p>
            <a:pPr lvl="1"/>
            <a:r>
              <a:rPr lang="en-GB" sz="1200" b="1" i="0" kern="1200" dirty="0">
                <a:solidFill>
                  <a:schemeClr val="tx1"/>
                </a:solidFill>
                <a:effectLst/>
                <a:latin typeface="+mn-lt"/>
                <a:ea typeface="+mn-ea"/>
                <a:cs typeface="+mn-cs"/>
              </a:rPr>
              <a:t>Command + L / Ctrl + L</a:t>
            </a:r>
            <a:r>
              <a:rPr lang="en-GB" sz="1200" b="0" i="0" kern="1200" dirty="0">
                <a:solidFill>
                  <a:schemeClr val="tx1"/>
                </a:solidFill>
                <a:effectLst/>
                <a:latin typeface="+mn-lt"/>
                <a:ea typeface="+mn-ea"/>
                <a:cs typeface="+mn-cs"/>
              </a:rPr>
              <a:t> – Jump to the address bar.</a:t>
            </a:r>
          </a:p>
          <a:p>
            <a:r>
              <a:rPr lang="en-GB" sz="1200" b="0" i="0" kern="1200" dirty="0">
                <a:solidFill>
                  <a:schemeClr val="tx1"/>
                </a:solidFill>
                <a:effectLst/>
                <a:latin typeface="+mn-lt"/>
                <a:ea typeface="+mn-ea"/>
                <a:cs typeface="+mn-cs"/>
              </a:rPr>
              <a:t>When testing:</a:t>
            </a:r>
          </a:p>
          <a:p>
            <a:pPr lvl="1"/>
            <a:r>
              <a:rPr lang="en-GB" sz="1200" b="0" i="0" kern="1200" dirty="0">
                <a:solidFill>
                  <a:schemeClr val="tx1"/>
                </a:solidFill>
                <a:effectLst/>
                <a:latin typeface="+mn-lt"/>
                <a:ea typeface="+mn-ea"/>
                <a:cs typeface="+mn-cs"/>
              </a:rPr>
              <a:t>Check if all interactive elements are reachable.</a:t>
            </a:r>
          </a:p>
          <a:p>
            <a:pPr lvl="1"/>
            <a:r>
              <a:rPr lang="en-GB" sz="1200" b="0" i="0" kern="1200" dirty="0">
                <a:solidFill>
                  <a:schemeClr val="tx1"/>
                </a:solidFill>
                <a:effectLst/>
                <a:latin typeface="+mn-lt"/>
                <a:ea typeface="+mn-ea"/>
                <a:cs typeface="+mn-cs"/>
              </a:rPr>
              <a:t>Ensure focus indicators are visible.</a:t>
            </a:r>
          </a:p>
          <a:p>
            <a:pPr lvl="1"/>
            <a:r>
              <a:rPr lang="en-GB" sz="1200" b="0" i="0" kern="1200" dirty="0">
                <a:solidFill>
                  <a:schemeClr val="tx1"/>
                </a:solidFill>
                <a:effectLst/>
                <a:latin typeface="+mn-lt"/>
                <a:ea typeface="+mn-ea"/>
                <a:cs typeface="+mn-cs"/>
              </a:rPr>
              <a:t>Confirm that actions work as expected without a mouse.</a:t>
            </a:r>
          </a:p>
          <a:p>
            <a:r>
              <a:rPr lang="en-GB" sz="1200" b="0" i="0" kern="1200" dirty="0">
                <a:solidFill>
                  <a:schemeClr val="tx1"/>
                </a:solidFill>
                <a:effectLst/>
                <a:latin typeface="+mn-lt"/>
                <a:ea typeface="+mn-ea"/>
                <a:cs typeface="+mn-cs"/>
              </a:rPr>
              <a:t>If any of these fail, it’s an accessibility issue.</a:t>
            </a:r>
          </a:p>
          <a:p>
            <a:endParaRPr lang="en-GB" dirty="0"/>
          </a:p>
        </p:txBody>
      </p:sp>
      <p:sp>
        <p:nvSpPr>
          <p:cNvPr id="4" name="Slide Number Placeholder 3"/>
          <p:cNvSpPr>
            <a:spLocks noGrp="1"/>
          </p:cNvSpPr>
          <p:nvPr>
            <p:ph type="sldNum" sz="quarter" idx="5"/>
          </p:nvPr>
        </p:nvSpPr>
        <p:spPr/>
        <p:txBody>
          <a:bodyPr/>
          <a:lstStyle/>
          <a:p>
            <a:fld id="{859DAC96-DD07-4E64-AF21-C601AB77BA83}" type="slidenum">
              <a:rPr lang="en-GB" smtClean="0"/>
              <a:t>9</a:t>
            </a:fld>
            <a:endParaRPr lang="en-GB"/>
          </a:p>
        </p:txBody>
      </p:sp>
    </p:spTree>
    <p:extLst>
      <p:ext uri="{BB962C8B-B14F-4D97-AF65-F5344CB8AC3E}">
        <p14:creationId xmlns:p14="http://schemas.microsoft.com/office/powerpoint/2010/main" val="3808240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covers </a:t>
            </a:r>
            <a:r>
              <a:rPr lang="en-GB" b="1" dirty="0"/>
              <a:t>keyboard actions on Windows</a:t>
            </a:r>
            <a:r>
              <a:rPr lang="en-GB" dirty="0"/>
              <a:t>. These commands are essential for testing accessibility without a mouse. Key actions include: </a:t>
            </a:r>
            <a:r>
              <a:rPr lang="en-GB" b="1" dirty="0"/>
              <a:t>Close or cancel dialogs</a:t>
            </a:r>
            <a:r>
              <a:rPr lang="en-GB" dirty="0"/>
              <a:t> – usually with </a:t>
            </a:r>
            <a:r>
              <a:rPr lang="en-GB" b="1" dirty="0"/>
              <a:t>Esc</a:t>
            </a:r>
            <a:r>
              <a:rPr lang="en-GB" dirty="0"/>
              <a:t>.</a:t>
            </a:r>
          </a:p>
          <a:p>
            <a:r>
              <a:rPr lang="en-GB" b="1" dirty="0"/>
              <a:t>Move to next focusable element</a:t>
            </a:r>
            <a:r>
              <a:rPr lang="en-GB" dirty="0"/>
              <a:t> – </a:t>
            </a:r>
            <a:r>
              <a:rPr lang="en-GB" b="1" dirty="0"/>
              <a:t>Tab</a:t>
            </a:r>
            <a:r>
              <a:rPr lang="en-GB" dirty="0"/>
              <a:t>.</a:t>
            </a:r>
          </a:p>
          <a:p>
            <a:r>
              <a:rPr lang="en-GB" b="1" dirty="0"/>
              <a:t>Open lists or check checkboxes</a:t>
            </a:r>
            <a:r>
              <a:rPr lang="en-GB" dirty="0"/>
              <a:t> – </a:t>
            </a:r>
            <a:r>
              <a:rPr lang="en-GB" b="1" dirty="0"/>
              <a:t>Space</a:t>
            </a:r>
            <a:r>
              <a:rPr lang="en-GB" dirty="0"/>
              <a:t>.</a:t>
            </a:r>
          </a:p>
          <a:p>
            <a:r>
              <a:rPr lang="en-GB" b="1" dirty="0"/>
              <a:t>Submit forms, click links, press buttons</a:t>
            </a:r>
            <a:r>
              <a:rPr lang="en-GB" dirty="0"/>
              <a:t> – </a:t>
            </a:r>
            <a:r>
              <a:rPr lang="en-GB" b="1" dirty="0"/>
              <a:t>Enter</a:t>
            </a:r>
            <a:r>
              <a:rPr lang="en-GB" dirty="0"/>
              <a:t>.</a:t>
            </a:r>
          </a:p>
          <a:p>
            <a:r>
              <a:rPr lang="en-GB" b="1" dirty="0"/>
              <a:t>Scroll pages or move between list items</a:t>
            </a:r>
            <a:r>
              <a:rPr lang="en-GB" dirty="0"/>
              <a:t> – </a:t>
            </a:r>
            <a:r>
              <a:rPr lang="en-GB" b="1" dirty="0"/>
              <a:t>Arrow keys</a:t>
            </a:r>
            <a:r>
              <a:rPr lang="en-GB" dirty="0"/>
              <a:t>.</a:t>
            </a:r>
          </a:p>
          <a:p>
            <a:r>
              <a:rPr lang="en-GB" dirty="0"/>
              <a:t>When testing: Check if these actions work consistently across the service.</a:t>
            </a:r>
          </a:p>
          <a:p>
            <a:r>
              <a:rPr lang="en-GB" dirty="0"/>
              <a:t>If any fail, it’s an accessibility issue.</a:t>
            </a:r>
          </a:p>
          <a:p>
            <a:endParaRPr lang="en-GB" dirty="0"/>
          </a:p>
        </p:txBody>
      </p:sp>
      <p:sp>
        <p:nvSpPr>
          <p:cNvPr id="4" name="Slide Number Placeholder 3"/>
          <p:cNvSpPr>
            <a:spLocks noGrp="1"/>
          </p:cNvSpPr>
          <p:nvPr>
            <p:ph type="sldNum" sz="quarter" idx="5"/>
          </p:nvPr>
        </p:nvSpPr>
        <p:spPr/>
        <p:txBody>
          <a:bodyPr/>
          <a:lstStyle/>
          <a:p>
            <a:fld id="{859DAC96-DD07-4E64-AF21-C601AB77BA83}" type="slidenum">
              <a:rPr lang="en-GB" smtClean="0"/>
              <a:t>10</a:t>
            </a:fld>
            <a:endParaRPr lang="en-GB"/>
          </a:p>
        </p:txBody>
      </p:sp>
    </p:spTree>
    <p:extLst>
      <p:ext uri="{BB962C8B-B14F-4D97-AF65-F5344CB8AC3E}">
        <p14:creationId xmlns:p14="http://schemas.microsoft.com/office/powerpoint/2010/main" val="380031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covers </a:t>
            </a:r>
            <a:r>
              <a:rPr lang="en-GB" b="1" dirty="0"/>
              <a:t>keyboard actions on macOS</a:t>
            </a:r>
            <a:r>
              <a:rPr lang="en-GB" dirty="0"/>
              <a:t>. The principles are the same as Windows, but shortcuts may differ slightly. Key actions include: </a:t>
            </a:r>
            <a:r>
              <a:rPr lang="en-GB" b="1" dirty="0"/>
              <a:t>Close or cancel dialogs</a:t>
            </a:r>
            <a:r>
              <a:rPr lang="en-GB" dirty="0"/>
              <a:t> – </a:t>
            </a:r>
            <a:r>
              <a:rPr lang="en-GB" b="1" dirty="0"/>
              <a:t>Esc</a:t>
            </a:r>
            <a:r>
              <a:rPr lang="en-GB" dirty="0"/>
              <a:t>.</a:t>
            </a:r>
          </a:p>
          <a:p>
            <a:r>
              <a:rPr lang="en-GB" b="1" dirty="0"/>
              <a:t>Move to next focusable element</a:t>
            </a:r>
            <a:r>
              <a:rPr lang="en-GB" dirty="0"/>
              <a:t> – </a:t>
            </a:r>
            <a:r>
              <a:rPr lang="en-GB" b="1" dirty="0"/>
              <a:t>Tab</a:t>
            </a:r>
            <a:r>
              <a:rPr lang="en-GB" dirty="0"/>
              <a:t>.</a:t>
            </a:r>
          </a:p>
          <a:p>
            <a:r>
              <a:rPr lang="en-GB" b="1" dirty="0"/>
              <a:t>Open lists or check checkboxes</a:t>
            </a:r>
            <a:r>
              <a:rPr lang="en-GB" dirty="0"/>
              <a:t> – </a:t>
            </a:r>
            <a:r>
              <a:rPr lang="en-GB" b="1" dirty="0"/>
              <a:t>Space</a:t>
            </a:r>
            <a:r>
              <a:rPr lang="en-GB" dirty="0"/>
              <a:t>.</a:t>
            </a:r>
          </a:p>
          <a:p>
            <a:r>
              <a:rPr lang="en-GB" b="1" dirty="0"/>
              <a:t>Submit forms, click links, press buttons</a:t>
            </a:r>
            <a:r>
              <a:rPr lang="en-GB" dirty="0"/>
              <a:t> – </a:t>
            </a:r>
            <a:r>
              <a:rPr lang="en-GB" b="1" dirty="0"/>
              <a:t>Enter</a:t>
            </a:r>
            <a:r>
              <a:rPr lang="en-GB" dirty="0"/>
              <a:t>.</a:t>
            </a:r>
          </a:p>
          <a:p>
            <a:r>
              <a:rPr lang="en-GB" b="1" dirty="0"/>
              <a:t>Scroll pages or move between list items</a:t>
            </a:r>
            <a:r>
              <a:rPr lang="en-GB" dirty="0"/>
              <a:t> – </a:t>
            </a:r>
            <a:r>
              <a:rPr lang="en-GB" b="1" dirty="0"/>
              <a:t>Arrow keys</a:t>
            </a:r>
            <a:r>
              <a:rPr lang="en-GB" dirty="0"/>
              <a:t>.</a:t>
            </a:r>
          </a:p>
          <a:p>
            <a:r>
              <a:rPr lang="en-GB" dirty="0"/>
              <a:t>On macOS, ensure </a:t>
            </a:r>
            <a:r>
              <a:rPr lang="en-GB" b="1" dirty="0"/>
              <a:t>full keyboard access</a:t>
            </a:r>
            <a:r>
              <a:rPr lang="en-GB" dirty="0"/>
              <a:t> is enabled in system settings for proper testing. Again, if any of these fail, it’s an accessibility issue.</a:t>
            </a:r>
          </a:p>
        </p:txBody>
      </p:sp>
      <p:sp>
        <p:nvSpPr>
          <p:cNvPr id="4" name="Slide Number Placeholder 3"/>
          <p:cNvSpPr>
            <a:spLocks noGrp="1"/>
          </p:cNvSpPr>
          <p:nvPr>
            <p:ph type="sldNum" sz="quarter" idx="5"/>
          </p:nvPr>
        </p:nvSpPr>
        <p:spPr/>
        <p:txBody>
          <a:bodyPr/>
          <a:lstStyle/>
          <a:p>
            <a:fld id="{859DAC96-DD07-4E64-AF21-C601AB77BA83}" type="slidenum">
              <a:rPr lang="en-GB" smtClean="0"/>
              <a:t>11</a:t>
            </a:fld>
            <a:endParaRPr lang="en-GB"/>
          </a:p>
        </p:txBody>
      </p:sp>
    </p:spTree>
    <p:extLst>
      <p:ext uri="{BB962C8B-B14F-4D97-AF65-F5344CB8AC3E}">
        <p14:creationId xmlns:p14="http://schemas.microsoft.com/office/powerpoint/2010/main" val="3545132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5F938-76DD-6158-0BAB-A5DBA502F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E4F2A-1AAF-7448-0CDE-4B122B32B46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50260A8-CB13-EB8A-934F-34B176D3CF6C}"/>
              </a:ext>
            </a:extLst>
          </p:cNvPr>
          <p:cNvSpPr>
            <a:spLocks noGrp="1"/>
          </p:cNvSpPr>
          <p:nvPr>
            <p:ph type="body" idx="1"/>
          </p:nvPr>
        </p:nvSpPr>
        <p:spPr/>
        <p:txBody>
          <a:bodyPr/>
          <a:lstStyle/>
          <a:p>
            <a:pPr rtl="0" fontAlgn="base"/>
            <a:r>
              <a:rPr lang="en-GB" dirty="0"/>
              <a:t>The </a:t>
            </a:r>
            <a:r>
              <a:rPr lang="en-GB" b="1" dirty="0"/>
              <a:t>“Record a ghost sighting”</a:t>
            </a:r>
            <a:r>
              <a:rPr lang="en-GB" dirty="0"/>
              <a:t> training prototype was created by </a:t>
            </a:r>
            <a:r>
              <a:rPr lang="en-GB" b="1" dirty="0"/>
              <a:t>Lori Thomson</a:t>
            </a:r>
            <a:r>
              <a:rPr lang="en-GB" dirty="0"/>
              <a:t> to make learning accessibility testing fun and memorable. Each page in the prototype contains </a:t>
            </a:r>
            <a:r>
              <a:rPr lang="en-GB" b="1" dirty="0"/>
              <a:t>intentional accessibility issues</a:t>
            </a:r>
            <a:r>
              <a:rPr lang="en-GB" dirty="0"/>
              <a:t> for learners to identify, test, and discuss. The exercise was inspired by Beverley Newing’s </a:t>
            </a:r>
            <a:r>
              <a:rPr lang="en-GB" b="1" dirty="0"/>
              <a:t>“Record a goose sighting”</a:t>
            </a:r>
            <a:r>
              <a:rPr lang="en-GB" dirty="0"/>
              <a:t> and uses an adapted </a:t>
            </a:r>
            <a:r>
              <a:rPr lang="en-GB" b="1" dirty="0"/>
              <a:t>GOV.UK Prototype Kit</a:t>
            </a:r>
            <a:r>
              <a:rPr lang="en-GB" dirty="0"/>
              <a:t> with a haunted twist. The goal is to help people understand accessibility barriers like </a:t>
            </a:r>
            <a:r>
              <a:rPr lang="en-GB" b="1" dirty="0"/>
              <a:t>colour contrast, keyboard navigation, and focus order</a:t>
            </a:r>
            <a:r>
              <a:rPr lang="en-GB" dirty="0"/>
              <a:t>. It’s designed for </a:t>
            </a:r>
            <a:r>
              <a:rPr lang="en-GB" b="1" dirty="0"/>
              <a:t>workshops, self-led learning, and team exercises</a:t>
            </a:r>
            <a:r>
              <a:rPr lang="en-GB" dirty="0"/>
              <a:t>, and every page fails one or more </a:t>
            </a:r>
            <a:r>
              <a:rPr lang="en-GB" b="1" dirty="0"/>
              <a:t>WCAG 2.2 AA criteria</a:t>
            </a:r>
            <a:r>
              <a:rPr lang="en-GB" dirty="0"/>
              <a:t>. Learners are encouraged to use different tools and assistive technologies and discuss the impact on real users. Contributions are welcome — you can </a:t>
            </a:r>
            <a:r>
              <a:rPr lang="en-GB" b="1" dirty="0"/>
              <a:t>explore or contribute on GitHub</a:t>
            </a:r>
            <a:r>
              <a:rPr lang="en-GB" dirty="0"/>
              <a:t>, share feedback by email, or complete the feedback survey.</a:t>
            </a:r>
          </a:p>
        </p:txBody>
      </p:sp>
      <p:sp>
        <p:nvSpPr>
          <p:cNvPr id="4" name="Slide Number Placeholder 3">
            <a:extLst>
              <a:ext uri="{FF2B5EF4-FFF2-40B4-BE49-F238E27FC236}">
                <a16:creationId xmlns:a16="http://schemas.microsoft.com/office/drawing/2014/main" id="{86065AE4-DC3D-AE88-AC53-E83D4F05A50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56871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06/11/2025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06/11/2025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06/11/2025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esentation title 1">
  <p:cSld name="Presentation title 1">
    <p:bg>
      <p:bgPr>
        <a:solidFill>
          <a:schemeClr val="dk1"/>
        </a:solidFill>
        <a:effectLst/>
      </p:bgPr>
    </p:bg>
    <p:spTree>
      <p:nvGrpSpPr>
        <p:cNvPr id="1" name="Shape 15"/>
        <p:cNvGrpSpPr/>
        <p:nvPr/>
      </p:nvGrpSpPr>
      <p:grpSpPr>
        <a:xfrm>
          <a:off x="0" y="0"/>
          <a:ext cx="0" cy="0"/>
          <a:chOff x="0" y="0"/>
          <a:chExt cx="0" cy="0"/>
        </a:xfrm>
      </p:grpSpPr>
      <p:pic>
        <p:nvPicPr>
          <p:cNvPr id="16" name="Google Shape;16;p20"/>
          <p:cNvPicPr preferRelativeResize="0"/>
          <p:nvPr/>
        </p:nvPicPr>
        <p:blipFill rotWithShape="1">
          <a:blip r:embed="rId2">
            <a:alphaModFix/>
          </a:blip>
          <a:srcRect/>
          <a:stretch/>
        </p:blipFill>
        <p:spPr>
          <a:xfrm>
            <a:off x="1159100" y="651995"/>
            <a:ext cx="11032901" cy="6206007"/>
          </a:xfrm>
          <a:prstGeom prst="rect">
            <a:avLst/>
          </a:prstGeom>
          <a:solidFill>
            <a:srgbClr val="183860"/>
          </a:solidFill>
          <a:ln>
            <a:noFill/>
          </a:ln>
        </p:spPr>
      </p:pic>
      <p:pic>
        <p:nvPicPr>
          <p:cNvPr id="17" name="Google Shape;17;p20"/>
          <p:cNvPicPr preferRelativeResize="0"/>
          <p:nvPr/>
        </p:nvPicPr>
        <p:blipFill rotWithShape="1">
          <a:blip r:embed="rId3">
            <a:alphaModFix/>
          </a:blip>
          <a:srcRect/>
          <a:stretch/>
        </p:blipFill>
        <p:spPr>
          <a:xfrm>
            <a:off x="385403" y="5689115"/>
            <a:ext cx="1346400" cy="787516"/>
          </a:xfrm>
          <a:prstGeom prst="rect">
            <a:avLst/>
          </a:prstGeom>
          <a:noFill/>
          <a:ln>
            <a:noFill/>
          </a:ln>
        </p:spPr>
      </p:pic>
      <p:sp>
        <p:nvSpPr>
          <p:cNvPr id="18" name="Google Shape;18;p20"/>
          <p:cNvSpPr txBox="1">
            <a:spLocks noGrp="1"/>
          </p:cNvSpPr>
          <p:nvPr>
            <p:ph type="subTitle" idx="1"/>
          </p:nvPr>
        </p:nvSpPr>
        <p:spPr>
          <a:xfrm>
            <a:off x="384633" y="4589252"/>
            <a:ext cx="5000169" cy="787516"/>
          </a:xfrm>
          <a:prstGeom prst="rect">
            <a:avLst/>
          </a:prstGeom>
          <a:noFill/>
          <a:ln>
            <a:noFill/>
          </a:ln>
        </p:spPr>
        <p:txBody>
          <a:bodyPr spcFirstLastPara="1" wrap="square" lIns="0" tIns="0" rIns="0" bIns="0" anchor="t" anchorCtr="0">
            <a:normAutofit/>
          </a:bodyPr>
          <a:lstStyle>
            <a:lvl1pPr lvl="0" algn="l">
              <a:lnSpc>
                <a:spcPct val="108000"/>
              </a:lnSpc>
              <a:spcBef>
                <a:spcPts val="0"/>
              </a:spcBef>
              <a:spcAft>
                <a:spcPts val="0"/>
              </a:spcAft>
              <a:buSzPts val="1350"/>
              <a:buNone/>
              <a:defRPr sz="1350" b="0">
                <a:solidFill>
                  <a:schemeClr val="lt1"/>
                </a:solidFill>
                <a:latin typeface="Arial"/>
                <a:ea typeface="Arial"/>
                <a:cs typeface="Arial"/>
                <a:sym typeface="Arial"/>
              </a:defRPr>
            </a:lvl1pPr>
            <a:lvl2pPr lvl="1" algn="ctr">
              <a:lnSpc>
                <a:spcPct val="108000"/>
              </a:lnSpc>
              <a:spcBef>
                <a:spcPts val="900"/>
              </a:spcBef>
              <a:spcAft>
                <a:spcPts val="0"/>
              </a:spcAft>
              <a:buSzPts val="1500"/>
              <a:buNone/>
              <a:defRPr sz="1500"/>
            </a:lvl2pPr>
            <a:lvl3pPr lvl="2" algn="ctr">
              <a:lnSpc>
                <a:spcPct val="108000"/>
              </a:lnSpc>
              <a:spcBef>
                <a:spcPts val="900"/>
              </a:spcBef>
              <a:spcAft>
                <a:spcPts val="0"/>
              </a:spcAft>
              <a:buSzPts val="1350"/>
              <a:buNone/>
              <a:defRPr sz="1350"/>
            </a:lvl3pPr>
            <a:lvl4pPr lvl="3" algn="ctr">
              <a:lnSpc>
                <a:spcPct val="108000"/>
              </a:lnSpc>
              <a:spcBef>
                <a:spcPts val="900"/>
              </a:spcBef>
              <a:spcAft>
                <a:spcPts val="0"/>
              </a:spcAft>
              <a:buSzPts val="1200"/>
              <a:buNone/>
              <a:defRPr sz="1200"/>
            </a:lvl4pPr>
            <a:lvl5pPr lvl="4" algn="ctr">
              <a:lnSpc>
                <a:spcPct val="108000"/>
              </a:lnSpc>
              <a:spcBef>
                <a:spcPts val="900"/>
              </a:spcBef>
              <a:spcAft>
                <a:spcPts val="0"/>
              </a:spcAft>
              <a:buSzPts val="1200"/>
              <a:buNone/>
              <a:defRPr sz="1200"/>
            </a:lvl5pPr>
            <a:lvl6pPr lvl="5" algn="ctr">
              <a:lnSpc>
                <a:spcPct val="90000"/>
              </a:lnSpc>
              <a:spcBef>
                <a:spcPts val="900"/>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9" name="Google Shape;19;p20"/>
          <p:cNvSpPr txBox="1">
            <a:spLocks noGrp="1"/>
          </p:cNvSpPr>
          <p:nvPr>
            <p:ph type="ctrTitle"/>
          </p:nvPr>
        </p:nvSpPr>
        <p:spPr>
          <a:xfrm>
            <a:off x="384633" y="1521500"/>
            <a:ext cx="5000169" cy="2831560"/>
          </a:xfrm>
          <a:prstGeom prst="rect">
            <a:avLst/>
          </a:prstGeom>
          <a:noFill/>
          <a:ln>
            <a:noFill/>
          </a:ln>
        </p:spPr>
        <p:txBody>
          <a:bodyPr spcFirstLastPara="1" wrap="square" lIns="0" tIns="0" rIns="0" bIns="0" anchor="ctr" anchorCtr="0">
            <a:normAutofit/>
          </a:bodyPr>
          <a:lstStyle>
            <a:lvl1pPr lvl="0" algn="l">
              <a:lnSpc>
                <a:spcPct val="96000"/>
              </a:lnSpc>
              <a:spcBef>
                <a:spcPts val="0"/>
              </a:spcBef>
              <a:spcAft>
                <a:spcPts val="0"/>
              </a:spcAft>
              <a:buClr>
                <a:schemeClr val="lt1"/>
              </a:buClr>
              <a:buSzPts val="2700"/>
              <a:buFont typeface="Arial"/>
              <a:buNone/>
              <a:defRPr sz="27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0" name="Google Shape;20;p20"/>
          <p:cNvPicPr preferRelativeResize="0"/>
          <p:nvPr/>
        </p:nvPicPr>
        <p:blipFill rotWithShape="1">
          <a:blip r:embed="rId4">
            <a:alphaModFix/>
          </a:blip>
          <a:srcRect/>
          <a:stretch/>
        </p:blipFill>
        <p:spPr>
          <a:xfrm>
            <a:off x="370889" y="395315"/>
            <a:ext cx="2340000" cy="396403"/>
          </a:xfrm>
          <a:prstGeom prst="rect">
            <a:avLst/>
          </a:prstGeom>
          <a:noFill/>
          <a:ln>
            <a:noFill/>
          </a:ln>
        </p:spPr>
      </p:pic>
    </p:spTree>
    <p:extLst>
      <p:ext uri="{BB962C8B-B14F-4D97-AF65-F5344CB8AC3E}">
        <p14:creationId xmlns:p14="http://schemas.microsoft.com/office/powerpoint/2010/main" val="1825143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4">
          <p15:clr>
            <a:srgbClr val="FBAE40"/>
          </p15:clr>
        </p15:guide>
        <p15:guide id="2" pos="1300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160"/>
        <p:cNvGrpSpPr/>
        <p:nvPr/>
      </p:nvGrpSpPr>
      <p:grpSpPr>
        <a:xfrm>
          <a:off x="0" y="0"/>
          <a:ext cx="0" cy="0"/>
          <a:chOff x="0" y="0"/>
          <a:chExt cx="0" cy="0"/>
        </a:xfrm>
      </p:grpSpPr>
      <p:sp>
        <p:nvSpPr>
          <p:cNvPr id="161" name="Google Shape;161;p43"/>
          <p:cNvSpPr txBox="1">
            <a:spLocks noGrp="1"/>
          </p:cNvSpPr>
          <p:nvPr>
            <p:ph type="sldNum" idx="12"/>
          </p:nvPr>
        </p:nvSpPr>
        <p:spPr>
          <a:xfrm>
            <a:off x="10980056" y="6349095"/>
            <a:ext cx="841685" cy="305707"/>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2" name="Google Shape;162;p43"/>
          <p:cNvSpPr txBox="1">
            <a:spLocks noGrp="1"/>
          </p:cNvSpPr>
          <p:nvPr>
            <p:ph type="dt" idx="10"/>
          </p:nvPr>
        </p:nvSpPr>
        <p:spPr>
          <a:xfrm>
            <a:off x="6096000" y="6349095"/>
            <a:ext cx="4884056" cy="305707"/>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43"/>
          <p:cNvSpPr txBox="1">
            <a:spLocks noGrp="1"/>
          </p:cNvSpPr>
          <p:nvPr>
            <p:ph type="ftr" idx="11"/>
          </p:nvPr>
        </p:nvSpPr>
        <p:spPr>
          <a:xfrm>
            <a:off x="370258" y="6349095"/>
            <a:ext cx="5725743" cy="30570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43"/>
          <p:cNvSpPr txBox="1">
            <a:spLocks noGrp="1"/>
          </p:cNvSpPr>
          <p:nvPr>
            <p:ph type="body" idx="1"/>
          </p:nvPr>
        </p:nvSpPr>
        <p:spPr>
          <a:xfrm>
            <a:off x="9778740" y="5485459"/>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5" name="Google Shape;165;p43"/>
          <p:cNvSpPr>
            <a:spLocks noGrp="1"/>
          </p:cNvSpPr>
          <p:nvPr>
            <p:ph type="pic" idx="2"/>
          </p:nvPr>
        </p:nvSpPr>
        <p:spPr>
          <a:xfrm>
            <a:off x="10260056" y="3874881"/>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66" name="Google Shape;166;p43"/>
          <p:cNvSpPr txBox="1">
            <a:spLocks noGrp="1"/>
          </p:cNvSpPr>
          <p:nvPr>
            <p:ph type="body" idx="3"/>
          </p:nvPr>
        </p:nvSpPr>
        <p:spPr>
          <a:xfrm>
            <a:off x="7395155" y="5485459"/>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7" name="Google Shape;167;p43"/>
          <p:cNvSpPr>
            <a:spLocks noGrp="1"/>
          </p:cNvSpPr>
          <p:nvPr>
            <p:ph type="pic" idx="4"/>
          </p:nvPr>
        </p:nvSpPr>
        <p:spPr>
          <a:xfrm>
            <a:off x="7784073" y="3874881"/>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68" name="Google Shape;168;p43"/>
          <p:cNvSpPr txBox="1">
            <a:spLocks noGrp="1"/>
          </p:cNvSpPr>
          <p:nvPr>
            <p:ph type="body" idx="5"/>
          </p:nvPr>
        </p:nvSpPr>
        <p:spPr>
          <a:xfrm>
            <a:off x="5011568" y="5485459"/>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9" name="Google Shape;169;p43"/>
          <p:cNvSpPr>
            <a:spLocks noGrp="1"/>
          </p:cNvSpPr>
          <p:nvPr>
            <p:ph type="pic" idx="6"/>
          </p:nvPr>
        </p:nvSpPr>
        <p:spPr>
          <a:xfrm>
            <a:off x="5375020" y="3874881"/>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70" name="Google Shape;170;p43"/>
          <p:cNvSpPr txBox="1">
            <a:spLocks noGrp="1"/>
          </p:cNvSpPr>
          <p:nvPr>
            <p:ph type="body" idx="7"/>
          </p:nvPr>
        </p:nvSpPr>
        <p:spPr>
          <a:xfrm>
            <a:off x="2627981" y="5485459"/>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1" name="Google Shape;171;p43"/>
          <p:cNvSpPr>
            <a:spLocks noGrp="1"/>
          </p:cNvSpPr>
          <p:nvPr>
            <p:ph type="pic" idx="8"/>
          </p:nvPr>
        </p:nvSpPr>
        <p:spPr>
          <a:xfrm>
            <a:off x="2991433" y="3874881"/>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72" name="Google Shape;172;p43"/>
          <p:cNvSpPr txBox="1">
            <a:spLocks noGrp="1"/>
          </p:cNvSpPr>
          <p:nvPr>
            <p:ph type="body" idx="9"/>
          </p:nvPr>
        </p:nvSpPr>
        <p:spPr>
          <a:xfrm>
            <a:off x="244393" y="5485459"/>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3" name="Google Shape;173;p43"/>
          <p:cNvSpPr>
            <a:spLocks noGrp="1"/>
          </p:cNvSpPr>
          <p:nvPr>
            <p:ph type="pic" idx="13"/>
          </p:nvPr>
        </p:nvSpPr>
        <p:spPr>
          <a:xfrm>
            <a:off x="558872" y="3874881"/>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74" name="Google Shape;174;p43"/>
          <p:cNvSpPr txBox="1">
            <a:spLocks noGrp="1"/>
          </p:cNvSpPr>
          <p:nvPr>
            <p:ph type="body" idx="14"/>
          </p:nvPr>
        </p:nvSpPr>
        <p:spPr>
          <a:xfrm>
            <a:off x="9778740" y="2946268"/>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5" name="Google Shape;175;p43"/>
          <p:cNvSpPr>
            <a:spLocks noGrp="1"/>
          </p:cNvSpPr>
          <p:nvPr>
            <p:ph type="pic" idx="15"/>
          </p:nvPr>
        </p:nvSpPr>
        <p:spPr>
          <a:xfrm>
            <a:off x="10260056" y="1335690"/>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76" name="Google Shape;176;p43"/>
          <p:cNvSpPr txBox="1">
            <a:spLocks noGrp="1"/>
          </p:cNvSpPr>
          <p:nvPr>
            <p:ph type="body" idx="16"/>
          </p:nvPr>
        </p:nvSpPr>
        <p:spPr>
          <a:xfrm>
            <a:off x="7395155" y="2946268"/>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7" name="Google Shape;177;p43"/>
          <p:cNvSpPr>
            <a:spLocks noGrp="1"/>
          </p:cNvSpPr>
          <p:nvPr>
            <p:ph type="pic" idx="17"/>
          </p:nvPr>
        </p:nvSpPr>
        <p:spPr>
          <a:xfrm>
            <a:off x="7784073" y="1335690"/>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78" name="Google Shape;178;p43"/>
          <p:cNvSpPr txBox="1">
            <a:spLocks noGrp="1"/>
          </p:cNvSpPr>
          <p:nvPr>
            <p:ph type="body" idx="18"/>
          </p:nvPr>
        </p:nvSpPr>
        <p:spPr>
          <a:xfrm>
            <a:off x="5011568" y="2946268"/>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9" name="Google Shape;179;p43"/>
          <p:cNvSpPr>
            <a:spLocks noGrp="1"/>
          </p:cNvSpPr>
          <p:nvPr>
            <p:ph type="pic" idx="19"/>
          </p:nvPr>
        </p:nvSpPr>
        <p:spPr>
          <a:xfrm>
            <a:off x="5375020" y="1335690"/>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80" name="Google Shape;180;p43"/>
          <p:cNvSpPr txBox="1">
            <a:spLocks noGrp="1"/>
          </p:cNvSpPr>
          <p:nvPr>
            <p:ph type="body" idx="20"/>
          </p:nvPr>
        </p:nvSpPr>
        <p:spPr>
          <a:xfrm>
            <a:off x="2627981" y="2946268"/>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1" name="Google Shape;181;p43"/>
          <p:cNvSpPr>
            <a:spLocks noGrp="1"/>
          </p:cNvSpPr>
          <p:nvPr>
            <p:ph type="pic" idx="21"/>
          </p:nvPr>
        </p:nvSpPr>
        <p:spPr>
          <a:xfrm>
            <a:off x="2991433" y="1335690"/>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82" name="Google Shape;182;p43"/>
          <p:cNvSpPr txBox="1">
            <a:spLocks noGrp="1"/>
          </p:cNvSpPr>
          <p:nvPr>
            <p:ph type="body" idx="22"/>
          </p:nvPr>
        </p:nvSpPr>
        <p:spPr>
          <a:xfrm>
            <a:off x="244393" y="2946268"/>
            <a:ext cx="2166907" cy="523220"/>
          </a:xfrm>
          <a:prstGeom prst="rect">
            <a:avLst/>
          </a:prstGeom>
          <a:noFill/>
          <a:ln>
            <a:noFill/>
          </a:ln>
        </p:spPr>
        <p:txBody>
          <a:bodyPr spcFirstLastPara="1" wrap="square" lIns="0" tIns="0" rIns="0" bIns="0" anchor="ctr" anchorCtr="0">
            <a:normAutofit/>
          </a:bodyPr>
          <a:lstStyle>
            <a:lvl1pPr marL="457200" lvl="0" indent="-228600" algn="ctr">
              <a:lnSpc>
                <a:spcPct val="108000"/>
              </a:lnSpc>
              <a:spcBef>
                <a:spcPts val="0"/>
              </a:spcBef>
              <a:spcAft>
                <a:spcPts val="0"/>
              </a:spcAft>
              <a:buSzPts val="1050"/>
              <a:buNone/>
              <a:defRPr sz="1050" b="0"/>
            </a:lvl1pPr>
            <a:lvl2pPr marL="914400" lvl="1" indent="-342900" algn="l">
              <a:lnSpc>
                <a:spcPct val="108000"/>
              </a:lnSpc>
              <a:spcBef>
                <a:spcPts val="0"/>
              </a:spcBef>
              <a:spcAft>
                <a:spcPts val="0"/>
              </a:spcAft>
              <a:buSzPts val="1800"/>
              <a:buChar char="•"/>
              <a:defRPr/>
            </a:lvl2pPr>
            <a:lvl3pPr marL="1371600" lvl="2" indent="-342900" algn="l">
              <a:lnSpc>
                <a:spcPct val="108000"/>
              </a:lnSpc>
              <a:spcBef>
                <a:spcPts val="900"/>
              </a:spcBef>
              <a:spcAft>
                <a:spcPts val="0"/>
              </a:spcAft>
              <a:buSzPts val="1800"/>
              <a:buChar char="•"/>
              <a:defRPr/>
            </a:lvl3pPr>
            <a:lvl4pPr marL="1828800" lvl="3" indent="-342900" algn="l">
              <a:lnSpc>
                <a:spcPct val="108000"/>
              </a:lnSpc>
              <a:spcBef>
                <a:spcPts val="900"/>
              </a:spcBef>
              <a:spcAft>
                <a:spcPts val="0"/>
              </a:spcAft>
              <a:buSzPts val="1800"/>
              <a:buChar char="•"/>
              <a:defRPr/>
            </a:lvl4pPr>
            <a:lvl5pPr marL="2286000" lvl="4" indent="-342900" algn="l">
              <a:lnSpc>
                <a:spcPct val="108000"/>
              </a:lnSpc>
              <a:spcBef>
                <a:spcPts val="900"/>
              </a:spcBef>
              <a:spcAft>
                <a:spcPts val="0"/>
              </a:spcAft>
              <a:buSzPts val="1800"/>
              <a:buChar char="•"/>
              <a:defRPr/>
            </a:lvl5pPr>
            <a:lvl6pPr marL="2743200" lvl="5" indent="-342900" algn="l">
              <a:lnSpc>
                <a:spcPct val="90000"/>
              </a:lnSpc>
              <a:spcBef>
                <a:spcPts val="900"/>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3" name="Google Shape;183;p43"/>
          <p:cNvSpPr>
            <a:spLocks noGrp="1"/>
          </p:cNvSpPr>
          <p:nvPr>
            <p:ph type="pic" idx="23"/>
          </p:nvPr>
        </p:nvSpPr>
        <p:spPr>
          <a:xfrm>
            <a:off x="558872" y="1335690"/>
            <a:ext cx="1440000" cy="1440000"/>
          </a:xfrm>
          <a:prstGeom prst="ellipse">
            <a:avLst/>
          </a:prstGeom>
          <a:noFill/>
          <a:ln w="12700" cap="flat" cmpd="sng">
            <a:solidFill>
              <a:schemeClr val="dk2"/>
            </a:solidFill>
            <a:prstDash val="solid"/>
            <a:round/>
            <a:headEnd type="none" w="sm" len="sm"/>
            <a:tailEnd type="none" w="sm" len="sm"/>
          </a:ln>
        </p:spPr>
        <p:txBody>
          <a:bodyPr/>
          <a:lstStyle/>
          <a:p>
            <a:endParaRPr lang="en-GB"/>
          </a:p>
        </p:txBody>
      </p:sp>
      <p:sp>
        <p:nvSpPr>
          <p:cNvPr id="184" name="Google Shape;184;p43"/>
          <p:cNvSpPr txBox="1">
            <a:spLocks noGrp="1"/>
          </p:cNvSpPr>
          <p:nvPr>
            <p:ph type="title"/>
          </p:nvPr>
        </p:nvSpPr>
        <p:spPr>
          <a:xfrm>
            <a:off x="558874" y="446128"/>
            <a:ext cx="11074255" cy="991962"/>
          </a:xfrm>
          <a:prstGeom prst="rect">
            <a:avLst/>
          </a:prstGeom>
          <a:noFill/>
          <a:ln>
            <a:noFill/>
          </a:ln>
        </p:spPr>
        <p:txBody>
          <a:bodyPr spcFirstLastPara="1" wrap="square" lIns="0" tIns="0" rIns="0" bIns="0" anchor="t" anchorCtr="0">
            <a:normAutofit/>
          </a:bodyPr>
          <a:lstStyle>
            <a:lvl1pPr lvl="0" algn="l">
              <a:lnSpc>
                <a:spcPct val="96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7882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3">
  <p:cSld name="Section title 3">
    <p:bg>
      <p:bgPr>
        <a:solidFill>
          <a:schemeClr val="lt2"/>
        </a:solidFill>
        <a:effectLst/>
      </p:bgPr>
    </p:bg>
    <p:spTree>
      <p:nvGrpSpPr>
        <p:cNvPr id="1" name="Shape 80"/>
        <p:cNvGrpSpPr/>
        <p:nvPr/>
      </p:nvGrpSpPr>
      <p:grpSpPr>
        <a:xfrm>
          <a:off x="0" y="0"/>
          <a:ext cx="0" cy="0"/>
          <a:chOff x="0" y="0"/>
          <a:chExt cx="0" cy="0"/>
        </a:xfrm>
      </p:grpSpPr>
      <p:pic>
        <p:nvPicPr>
          <p:cNvPr id="81" name="Google Shape;81;p3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2" name="Google Shape;82;p31"/>
          <p:cNvSpPr txBox="1">
            <a:spLocks noGrp="1"/>
          </p:cNvSpPr>
          <p:nvPr>
            <p:ph type="sldNum" idx="12"/>
          </p:nvPr>
        </p:nvSpPr>
        <p:spPr>
          <a:xfrm>
            <a:off x="10980056" y="6349095"/>
            <a:ext cx="841685" cy="305707"/>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83" name="Google Shape;83;p31"/>
          <p:cNvSpPr txBox="1">
            <a:spLocks noGrp="1"/>
          </p:cNvSpPr>
          <p:nvPr>
            <p:ph type="dt" idx="10"/>
          </p:nvPr>
        </p:nvSpPr>
        <p:spPr>
          <a:xfrm>
            <a:off x="6096000" y="6349095"/>
            <a:ext cx="4884056" cy="305707"/>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1"/>
          <p:cNvSpPr txBox="1">
            <a:spLocks noGrp="1"/>
          </p:cNvSpPr>
          <p:nvPr>
            <p:ph type="ftr" idx="11"/>
          </p:nvPr>
        </p:nvSpPr>
        <p:spPr>
          <a:xfrm>
            <a:off x="370258" y="6349095"/>
            <a:ext cx="5725743" cy="30570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1"/>
          <p:cNvSpPr txBox="1">
            <a:spLocks noGrp="1"/>
          </p:cNvSpPr>
          <p:nvPr>
            <p:ph type="title"/>
          </p:nvPr>
        </p:nvSpPr>
        <p:spPr>
          <a:xfrm>
            <a:off x="384631" y="1521500"/>
            <a:ext cx="5011060" cy="2831560"/>
          </a:xfrm>
          <a:prstGeom prst="rect">
            <a:avLst/>
          </a:prstGeom>
          <a:noFill/>
          <a:ln>
            <a:noFill/>
          </a:ln>
        </p:spPr>
        <p:txBody>
          <a:bodyPr spcFirstLastPara="1" wrap="square" lIns="0" tIns="0" rIns="0" bIns="0" anchor="ctr" anchorCtr="0">
            <a:noAutofit/>
          </a:bodyPr>
          <a:lstStyle>
            <a:lvl1pPr lvl="0" algn="l">
              <a:lnSpc>
                <a:spcPct val="96000"/>
              </a:lnSpc>
              <a:spcBef>
                <a:spcPts val="0"/>
              </a:spcBef>
              <a:spcAft>
                <a:spcPts val="0"/>
              </a:spcAft>
              <a:buClr>
                <a:schemeClr val="dk1"/>
              </a:buClr>
              <a:buSzPts val="2700"/>
              <a:buFont typeface="Arial"/>
              <a:buNone/>
              <a:defRPr sz="27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491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tement 2">
  <p:cSld name="Statement 2">
    <p:bg>
      <p:bgPr>
        <a:solidFill>
          <a:schemeClr val="dk1"/>
        </a:solidFill>
        <a:effectLst/>
      </p:bgPr>
    </p:bg>
    <p:spTree>
      <p:nvGrpSpPr>
        <p:cNvPr id="1" name="Shape 21"/>
        <p:cNvGrpSpPr/>
        <p:nvPr/>
      </p:nvGrpSpPr>
      <p:grpSpPr>
        <a:xfrm>
          <a:off x="0" y="0"/>
          <a:ext cx="0" cy="0"/>
          <a:chOff x="0" y="0"/>
          <a:chExt cx="0" cy="0"/>
        </a:xfrm>
      </p:grpSpPr>
      <p:sp>
        <p:nvSpPr>
          <p:cNvPr id="22" name="Google Shape;22;p21"/>
          <p:cNvSpPr txBox="1">
            <a:spLocks noGrp="1"/>
          </p:cNvSpPr>
          <p:nvPr>
            <p:ph type="sldNum" idx="12"/>
          </p:nvPr>
        </p:nvSpPr>
        <p:spPr>
          <a:xfrm>
            <a:off x="10980056" y="6349095"/>
            <a:ext cx="841685" cy="305707"/>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1"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3" name="Google Shape;23;p21"/>
          <p:cNvSpPr txBox="1">
            <a:spLocks noGrp="1"/>
          </p:cNvSpPr>
          <p:nvPr>
            <p:ph type="dt" idx="10"/>
          </p:nvPr>
        </p:nvSpPr>
        <p:spPr>
          <a:xfrm>
            <a:off x="6096000" y="6349095"/>
            <a:ext cx="4884056" cy="305707"/>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370258" y="6349095"/>
            <a:ext cx="5725743" cy="305707"/>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title"/>
          </p:nvPr>
        </p:nvSpPr>
        <p:spPr>
          <a:xfrm>
            <a:off x="369889" y="1262743"/>
            <a:ext cx="10218283" cy="4848225"/>
          </a:xfrm>
          <a:prstGeom prst="rect">
            <a:avLst/>
          </a:prstGeom>
          <a:noFill/>
          <a:ln>
            <a:noFill/>
          </a:ln>
        </p:spPr>
        <p:txBody>
          <a:bodyPr spcFirstLastPara="1" wrap="square" lIns="0" tIns="0" rIns="0" bIns="0" anchor="t" anchorCtr="0">
            <a:normAutofit/>
          </a:bodyPr>
          <a:lstStyle>
            <a:lvl1pPr lvl="0" algn="l">
              <a:lnSpc>
                <a:spcPct val="96000"/>
              </a:lnSpc>
              <a:spcBef>
                <a:spcPts val="0"/>
              </a:spcBef>
              <a:spcAft>
                <a:spcPts val="0"/>
              </a:spcAft>
              <a:buClr>
                <a:schemeClr val="lt1"/>
              </a:buClr>
              <a:buSzPts val="3750"/>
              <a:buFont typeface="Arial"/>
              <a:buNone/>
              <a:defRPr sz="375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7995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06/11/2025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hyperlink" Target="https://ghost-sighting.lorithomson.co.uk/"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hyperlink" Target="https://wave.webaim.org/extension/" TargetMode="External"/><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in/lori1234/" TargetMode="External"/><Relationship Id="rId7" Type="http://schemas.openxmlformats.org/officeDocument/2006/relationships/hyperlink" Target="https://www.surveymonkey.com/r/8JZX5KD" TargetMode="External"/><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hyperlink" Target="https://github.com/Lori-T/record-a-ghost-sighting" TargetMode="External"/><Relationship Id="rId5" Type="http://schemas.openxmlformats.org/officeDocument/2006/relationships/hyperlink" Target="https://prototype-kit.service.gov.uk/" TargetMode="External"/><Relationship Id="rId4" Type="http://schemas.openxmlformats.org/officeDocument/2006/relationships/hyperlink" Target="https://accessibility.blog.gov.uk/2020/01/14/training-people-to-do-accessibility-review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0BD931F3-A26A-DDC2-3AC0-A5863E30B664}"/>
            </a:ext>
          </a:extLst>
        </p:cNvPr>
        <p:cNvGrpSpPr/>
        <p:nvPr/>
      </p:nvGrpSpPr>
      <p:grpSpPr>
        <a:xfrm>
          <a:off x="0" y="0"/>
          <a:ext cx="0" cy="0"/>
          <a:chOff x="0" y="0"/>
          <a:chExt cx="0" cy="0"/>
        </a:xfrm>
      </p:grpSpPr>
      <p:pic>
        <p:nvPicPr>
          <p:cNvPr id="10" name="Picture 9" descr="Department of Supernatural Affairs logo">
            <a:extLst>
              <a:ext uri="{FF2B5EF4-FFF2-40B4-BE49-F238E27FC236}">
                <a16:creationId xmlns:a16="http://schemas.microsoft.com/office/drawing/2014/main" id="{D1A0C38F-75B0-DDA2-7612-CF7CE9FC1B07}"/>
              </a:ext>
            </a:extLst>
          </p:cNvPr>
          <p:cNvPicPr>
            <a:picLocks noChangeAspect="1"/>
          </p:cNvPicPr>
          <p:nvPr/>
        </p:nvPicPr>
        <p:blipFill>
          <a:blip r:embed="rId3"/>
          <a:stretch>
            <a:fillRect/>
          </a:stretch>
        </p:blipFill>
        <p:spPr>
          <a:xfrm>
            <a:off x="162690" y="194795"/>
            <a:ext cx="5531134" cy="2514729"/>
          </a:xfrm>
          <a:prstGeom prst="rect">
            <a:avLst/>
          </a:prstGeom>
        </p:spPr>
      </p:pic>
      <p:sp>
        <p:nvSpPr>
          <p:cNvPr id="5" name="Title 4">
            <a:extLst>
              <a:ext uri="{FF2B5EF4-FFF2-40B4-BE49-F238E27FC236}">
                <a16:creationId xmlns:a16="http://schemas.microsoft.com/office/drawing/2014/main" id="{752413CB-4528-DE6D-E637-297024994754}"/>
              </a:ext>
            </a:extLst>
          </p:cNvPr>
          <p:cNvSpPr>
            <a:spLocks noGrp="1"/>
          </p:cNvSpPr>
          <p:nvPr>
            <p:ph type="ctrTitle"/>
          </p:nvPr>
        </p:nvSpPr>
        <p:spPr>
          <a:xfrm>
            <a:off x="1524000" y="2501819"/>
            <a:ext cx="9144000" cy="2387600"/>
          </a:xfrm>
        </p:spPr>
        <p:txBody>
          <a:bodyPr>
            <a:normAutofit fontScale="90000"/>
          </a:bodyPr>
          <a:lstStyle/>
          <a:p>
            <a:r>
              <a:rPr lang="en-GB" dirty="0">
                <a:solidFill>
                  <a:schemeClr val="bg1"/>
                </a:solidFill>
                <a:latin typeface="Arial" panose="020B0604020202020204" pitchFamily="34" charset="0"/>
                <a:cs typeface="Arial" panose="020B0604020202020204" pitchFamily="34" charset="0"/>
              </a:rPr>
              <a:t>How to be a good ghost spotter – basic accessibility testing</a:t>
            </a:r>
          </a:p>
        </p:txBody>
      </p:sp>
      <p:pic>
        <p:nvPicPr>
          <p:cNvPr id="12" name="Picture 11" descr="A cartoon ghost holding a magnifying glass&#10;&#10;">
            <a:extLst>
              <a:ext uri="{FF2B5EF4-FFF2-40B4-BE49-F238E27FC236}">
                <a16:creationId xmlns:a16="http://schemas.microsoft.com/office/drawing/2014/main" id="{46D265F5-0E25-C43C-78B6-DD22BE4651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264" y="4245312"/>
            <a:ext cx="2477472" cy="2477472"/>
          </a:xfrm>
          <a:prstGeom prst="rect">
            <a:avLst/>
          </a:prstGeom>
        </p:spPr>
      </p:pic>
    </p:spTree>
    <p:extLst>
      <p:ext uri="{BB962C8B-B14F-4D97-AF65-F5344CB8AC3E}">
        <p14:creationId xmlns:p14="http://schemas.microsoft.com/office/powerpoint/2010/main" val="3842126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E8263957-D236-1B87-3935-87EC4C9644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3BD11C-9F94-49D7-641F-6D7B2E996498}"/>
              </a:ext>
            </a:extLst>
          </p:cNvPr>
          <p:cNvSpPr txBox="1">
            <a:spLocks noGrp="1"/>
          </p:cNvSpPr>
          <p:nvPr>
            <p:ph type="title" idx="4294967295"/>
          </p:nvPr>
        </p:nvSpPr>
        <p:spPr>
          <a:xfrm>
            <a:off x="337602" y="356052"/>
            <a:ext cx="11025285"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Record a ghost sighting</a:t>
            </a:r>
          </a:p>
        </p:txBody>
      </p:sp>
      <p:sp>
        <p:nvSpPr>
          <p:cNvPr id="3" name="Title 2">
            <a:extLst>
              <a:ext uri="{FF2B5EF4-FFF2-40B4-BE49-F238E27FC236}">
                <a16:creationId xmlns:a16="http://schemas.microsoft.com/office/drawing/2014/main" id="{DF74ACF4-3471-E624-5AAC-7983C2E8B980}"/>
              </a:ext>
            </a:extLst>
          </p:cNvPr>
          <p:cNvSpPr>
            <a:spLocks/>
          </p:cNvSpPr>
          <p:nvPr/>
        </p:nvSpPr>
        <p:spPr>
          <a:xfrm>
            <a:off x="337602" y="540660"/>
            <a:ext cx="7925026" cy="5220607"/>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rmAutofit fontScale="97500"/>
          </a:bodyPr>
          <a:lstStyle/>
          <a:p>
            <a:pPr marL="0" marR="0" lvl="0" indent="0" algn="l" defTabSz="914400" rtl="0" eaLnBrk="1" fontAlgn="auto" latinLnBrk="0" hangingPunct="1">
              <a:lnSpc>
                <a:spcPct val="96000"/>
              </a:lnSpc>
              <a:spcBef>
                <a:spcPts val="0"/>
              </a:spcBef>
              <a:spcAft>
                <a:spcPts val="0"/>
              </a:spcAft>
              <a:buClr>
                <a:schemeClr val="lt1"/>
              </a:buClr>
              <a:buSzPts val="3750"/>
              <a:buFont typeface="Arial"/>
              <a:buNone/>
              <a:tabLst/>
              <a:defRPr/>
            </a:pP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endPar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endParaRPr>
          </a:p>
        </p:txBody>
      </p:sp>
      <p:sp>
        <p:nvSpPr>
          <p:cNvPr id="6" name="TextBox 5">
            <a:extLst>
              <a:ext uri="{FF2B5EF4-FFF2-40B4-BE49-F238E27FC236}">
                <a16:creationId xmlns:a16="http://schemas.microsoft.com/office/drawing/2014/main" id="{9DCDCFE7-AD09-8DFB-A0BB-6AAAA805086A}"/>
              </a:ext>
            </a:extLst>
          </p:cNvPr>
          <p:cNvSpPr txBox="1"/>
          <p:nvPr/>
        </p:nvSpPr>
        <p:spPr>
          <a:xfrm>
            <a:off x="337601" y="1296879"/>
            <a:ext cx="11025285" cy="3493264"/>
          </a:xfrm>
          <a:prstGeom prst="rect">
            <a:avLst/>
          </a:prstGeom>
          <a:noFill/>
        </p:spPr>
        <p:txBody>
          <a:bodyPr wrap="square">
            <a:spAutoFit/>
          </a:bodyPr>
          <a:lstStyle/>
          <a:p>
            <a:pPr algn="l">
              <a:spcAft>
                <a:spcPts val="1500"/>
              </a:spcAft>
              <a:buNone/>
            </a:pPr>
            <a:r>
              <a:rPr lang="en-GB" sz="2800" b="0" i="0" dirty="0">
                <a:solidFill>
                  <a:schemeClr val="bg1"/>
                </a:solidFill>
                <a:effectLst/>
                <a:latin typeface="Arial" panose="020B0604020202020204" pitchFamily="34" charset="0"/>
              </a:rPr>
              <a:t>Welcome to the </a:t>
            </a:r>
            <a:r>
              <a:rPr lang="en-GB" sz="2800" b="1" i="0" dirty="0">
                <a:solidFill>
                  <a:schemeClr val="bg1"/>
                </a:solidFill>
                <a:effectLst/>
                <a:latin typeface="Arial" panose="020B0604020202020204" pitchFamily="34" charset="0"/>
              </a:rPr>
              <a:t>Department for Supernatural Affairs</a:t>
            </a:r>
            <a:r>
              <a:rPr lang="en-GB" sz="2800" b="0" i="0" dirty="0">
                <a:solidFill>
                  <a:schemeClr val="bg1"/>
                </a:solidFill>
                <a:effectLst/>
                <a:latin typeface="Arial" panose="020B0604020202020204" pitchFamily="34" charset="0"/>
              </a:rPr>
              <a:t> service to </a:t>
            </a:r>
            <a:r>
              <a:rPr lang="en-GB" sz="2800" dirty="0">
                <a:solidFill>
                  <a:schemeClr val="bg1"/>
                </a:solidFill>
                <a:latin typeface="Arial" panose="020B0604020202020204" pitchFamily="34" charset="0"/>
              </a:rPr>
              <a:t>‘</a:t>
            </a:r>
            <a:r>
              <a:rPr lang="en-GB" sz="2800" b="0" i="0" dirty="0">
                <a:solidFill>
                  <a:srgbClr val="92D050"/>
                </a:solidFill>
                <a:effectLst/>
                <a:latin typeface="Arial" panose="020B0604020202020204" pitchFamily="34" charset="0"/>
                <a:hlinkClick r:id="rId3">
                  <a:extLst>
                    <a:ext uri="{A12FA001-AC4F-418D-AE19-62706E023703}">
                      <ahyp:hlinkClr xmlns:ahyp="http://schemas.microsoft.com/office/drawing/2018/hyperlinkcolor" val="tx"/>
                    </a:ext>
                  </a:extLst>
                </a:hlinkClick>
              </a:rPr>
              <a:t>Record a ghost sighting</a:t>
            </a:r>
            <a:r>
              <a:rPr lang="en-GB" sz="2800" b="0" i="0" dirty="0">
                <a:solidFill>
                  <a:schemeClr val="bg1"/>
                </a:solidFill>
                <a:effectLst/>
                <a:latin typeface="Arial" panose="020B0604020202020204" pitchFamily="34" charset="0"/>
              </a:rPr>
              <a:t>’ (password = Halloween).</a:t>
            </a:r>
            <a:br>
              <a:rPr lang="en-GB" sz="2800" b="0" i="0" dirty="0">
                <a:solidFill>
                  <a:schemeClr val="bg1"/>
                </a:solidFill>
                <a:effectLst/>
                <a:latin typeface="Arial" panose="020B0604020202020204" pitchFamily="34" charset="0"/>
              </a:rPr>
            </a:br>
            <a:r>
              <a:rPr lang="en-GB" sz="2800" b="0" i="0" dirty="0">
                <a:solidFill>
                  <a:schemeClr val="bg1"/>
                </a:solidFill>
                <a:effectLst/>
                <a:latin typeface="Arial" panose="020B0604020202020204" pitchFamily="34" charset="0"/>
              </a:rPr>
              <a:t>This spooky service contains intentional accessibility issues — your job is to find them all</a:t>
            </a:r>
            <a:r>
              <a:rPr lang="en-GB" sz="2800" dirty="0">
                <a:solidFill>
                  <a:schemeClr val="bg1"/>
                </a:solidFill>
                <a:latin typeface="Arial" panose="020B0604020202020204" pitchFamily="34" charset="0"/>
              </a:rPr>
              <a:t> and get your special “Ghost spotter’s” badge</a:t>
            </a:r>
            <a:r>
              <a:rPr lang="en-GB" sz="2800" b="0" i="0" dirty="0">
                <a:solidFill>
                  <a:schemeClr val="bg1"/>
                </a:solidFill>
                <a:effectLst/>
                <a:latin typeface="Arial" panose="020B0604020202020204" pitchFamily="34" charset="0"/>
              </a:rPr>
              <a:t>. </a:t>
            </a:r>
          </a:p>
          <a:p>
            <a:pPr algn="l">
              <a:spcAft>
                <a:spcPts val="1500"/>
              </a:spcAft>
              <a:buNone/>
            </a:pPr>
            <a:r>
              <a:rPr lang="en-GB" sz="2800" b="0" i="0" dirty="0">
                <a:solidFill>
                  <a:schemeClr val="bg1"/>
                </a:solidFill>
                <a:effectLst/>
                <a:latin typeface="Arial" panose="020B0604020202020204" pitchFamily="34" charset="0"/>
              </a:rPr>
              <a:t>Some might be tricker than others.</a:t>
            </a:r>
          </a:p>
          <a:p>
            <a:pPr algn="l">
              <a:spcAft>
                <a:spcPts val="1500"/>
              </a:spcAft>
              <a:buNone/>
            </a:pPr>
            <a:r>
              <a:rPr lang="en-GB" sz="2800" b="0" i="0" dirty="0">
                <a:solidFill>
                  <a:schemeClr val="bg1"/>
                </a:solidFill>
                <a:effectLst/>
                <a:latin typeface="Arial" panose="020B0604020202020204" pitchFamily="34" charset="0"/>
              </a:rPr>
              <a:t>Each page contains one or more accessibility issues (and perhaps a lurking ghost 👻), some might be tricker than others to find.</a:t>
            </a:r>
          </a:p>
        </p:txBody>
      </p:sp>
      <p:pic>
        <p:nvPicPr>
          <p:cNvPr id="8" name="Picture 7" descr="Boo! I’m an accessibility champion. Ghost spotters club badge">
            <a:extLst>
              <a:ext uri="{FF2B5EF4-FFF2-40B4-BE49-F238E27FC236}">
                <a16:creationId xmlns:a16="http://schemas.microsoft.com/office/drawing/2014/main" id="{7F3DAEE6-65DB-816E-872C-30437AF7A39A}"/>
              </a:ext>
            </a:extLst>
          </p:cNvPr>
          <p:cNvPicPr>
            <a:picLocks noChangeAspect="1"/>
          </p:cNvPicPr>
          <p:nvPr/>
        </p:nvPicPr>
        <p:blipFill>
          <a:blip r:embed="rId4"/>
          <a:stretch>
            <a:fillRect/>
          </a:stretch>
        </p:blipFill>
        <p:spPr>
          <a:xfrm>
            <a:off x="9508388" y="4289334"/>
            <a:ext cx="2514056" cy="2514056"/>
          </a:xfrm>
          <a:prstGeom prst="rect">
            <a:avLst/>
          </a:prstGeom>
        </p:spPr>
      </p:pic>
    </p:spTree>
    <p:extLst>
      <p:ext uri="{BB962C8B-B14F-4D97-AF65-F5344CB8AC3E}">
        <p14:creationId xmlns:p14="http://schemas.microsoft.com/office/powerpoint/2010/main" val="356754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2DF761E1-5FB0-C050-0471-2749713033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8673FE-46FC-580B-5385-B83150E3A08C}"/>
              </a:ext>
            </a:extLst>
          </p:cNvPr>
          <p:cNvSpPr txBox="1">
            <a:spLocks noGrp="1"/>
          </p:cNvSpPr>
          <p:nvPr>
            <p:ph type="title" idx="4294967295"/>
          </p:nvPr>
        </p:nvSpPr>
        <p:spPr>
          <a:xfrm>
            <a:off x="337602" y="356052"/>
            <a:ext cx="11025285"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Ghost spotting skills</a:t>
            </a:r>
          </a:p>
        </p:txBody>
      </p:sp>
      <p:sp>
        <p:nvSpPr>
          <p:cNvPr id="3" name="Title 2">
            <a:extLst>
              <a:ext uri="{FF2B5EF4-FFF2-40B4-BE49-F238E27FC236}">
                <a16:creationId xmlns:a16="http://schemas.microsoft.com/office/drawing/2014/main" id="{D6F2510C-68A8-FC7D-F479-39351E00CDCB}"/>
              </a:ext>
            </a:extLst>
          </p:cNvPr>
          <p:cNvSpPr>
            <a:spLocks/>
          </p:cNvSpPr>
          <p:nvPr/>
        </p:nvSpPr>
        <p:spPr>
          <a:xfrm>
            <a:off x="337602" y="648439"/>
            <a:ext cx="7925026" cy="5220607"/>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rmAutofit fontScale="90000" lnSpcReduction="10000"/>
          </a:bodyPr>
          <a:lstStyle/>
          <a:p>
            <a:pPr marL="0" marR="0" lvl="0" indent="0" algn="l" defTabSz="914400" rtl="0" eaLnBrk="1" fontAlgn="auto" latinLnBrk="0" hangingPunct="1">
              <a:lnSpc>
                <a:spcPct val="96000"/>
              </a:lnSpc>
              <a:spcBef>
                <a:spcPts val="0"/>
              </a:spcBef>
              <a:spcAft>
                <a:spcPts val="0"/>
              </a:spcAft>
              <a:buClr>
                <a:schemeClr val="lt1"/>
              </a:buClr>
              <a:buSzPts val="3750"/>
              <a:buFont typeface="Arial"/>
              <a:buNone/>
              <a:tabLst/>
              <a:defRPr/>
            </a:pP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This is level of testing is not an audit or enough to be classed as full accessibility testing. </a:t>
            </a: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The training has been designed to help highlight how accessibility issues can affect users and could be used to conduct very quick checks.</a:t>
            </a: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endPar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endParaRPr>
          </a:p>
        </p:txBody>
      </p:sp>
      <p:pic>
        <p:nvPicPr>
          <p:cNvPr id="5" name="Picture 4" descr="A grey spider web dangling from the corner of the slide&#10;&#10;">
            <a:extLst>
              <a:ext uri="{FF2B5EF4-FFF2-40B4-BE49-F238E27FC236}">
                <a16:creationId xmlns:a16="http://schemas.microsoft.com/office/drawing/2014/main" id="{11110D2B-ED81-891B-B633-1C73F05ABB08}"/>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0186296" y="0"/>
            <a:ext cx="2005704" cy="2005704"/>
          </a:xfrm>
          <a:prstGeom prst="rect">
            <a:avLst/>
          </a:prstGeom>
        </p:spPr>
      </p:pic>
      <p:pic>
        <p:nvPicPr>
          <p:cNvPr id="7" name="Picture 6" descr="A cartoon of a female detective holding a magnifying glass, she is wearing a brown detective coat and hat, has red hair and has a notebook and pencil in her coat pocket&#10;&#10;">
            <a:extLst>
              <a:ext uri="{FF2B5EF4-FFF2-40B4-BE49-F238E27FC236}">
                <a16:creationId xmlns:a16="http://schemas.microsoft.com/office/drawing/2014/main" id="{08FFEBB3-2C81-9F1C-D602-B52065D817B4}"/>
              </a:ext>
            </a:extLst>
          </p:cNvPr>
          <p:cNvPicPr>
            <a:picLocks noChangeAspect="1"/>
          </p:cNvPicPr>
          <p:nvPr/>
        </p:nvPicPr>
        <p:blipFill>
          <a:blip r:embed="rId4"/>
          <a:stretch>
            <a:fillRect/>
          </a:stretch>
        </p:blipFill>
        <p:spPr>
          <a:xfrm>
            <a:off x="8949921" y="2183768"/>
            <a:ext cx="2305908" cy="4318180"/>
          </a:xfrm>
          <a:prstGeom prst="rect">
            <a:avLst/>
          </a:prstGeom>
        </p:spPr>
      </p:pic>
    </p:spTree>
    <p:extLst>
      <p:ext uri="{BB962C8B-B14F-4D97-AF65-F5344CB8AC3E}">
        <p14:creationId xmlns:p14="http://schemas.microsoft.com/office/powerpoint/2010/main" val="19951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0DFD7F83-2CD5-C318-0D45-BA8998A6A5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3DDC9E-7795-30C1-5BD2-D52B73870F54}"/>
              </a:ext>
            </a:extLst>
          </p:cNvPr>
          <p:cNvSpPr txBox="1">
            <a:spLocks noGrp="1"/>
          </p:cNvSpPr>
          <p:nvPr>
            <p:ph type="title" idx="4294967295"/>
          </p:nvPr>
        </p:nvSpPr>
        <p:spPr>
          <a:xfrm>
            <a:off x="337602" y="356052"/>
            <a:ext cx="11025285"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How to spot ghosts (accessibility issues)</a:t>
            </a:r>
          </a:p>
        </p:txBody>
      </p:sp>
      <p:sp>
        <p:nvSpPr>
          <p:cNvPr id="3" name="Title 2">
            <a:extLst>
              <a:ext uri="{FF2B5EF4-FFF2-40B4-BE49-F238E27FC236}">
                <a16:creationId xmlns:a16="http://schemas.microsoft.com/office/drawing/2014/main" id="{21B60D0E-D2B5-4F21-164A-1435B14D2221}"/>
              </a:ext>
            </a:extLst>
          </p:cNvPr>
          <p:cNvSpPr>
            <a:spLocks/>
          </p:cNvSpPr>
          <p:nvPr/>
        </p:nvSpPr>
        <p:spPr>
          <a:xfrm>
            <a:off x="446201" y="1080407"/>
            <a:ext cx="11299597" cy="4697186"/>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rmAutofit fontScale="92500" lnSpcReduction="10000"/>
          </a:bodyPr>
          <a:lstStyle/>
          <a:p>
            <a:pPr marL="0" marR="0" lvl="0" indent="0" algn="l" defTabSz="914400" rtl="0" eaLnBrk="1" fontAlgn="auto" latinLnBrk="0" hangingPunct="1">
              <a:lnSpc>
                <a:spcPct val="96000"/>
              </a:lnSpc>
              <a:spcBef>
                <a:spcPts val="0"/>
              </a:spcBef>
              <a:spcAft>
                <a:spcPts val="0"/>
              </a:spcAft>
              <a:buClr>
                <a:schemeClr val="lt1"/>
              </a:buClr>
              <a:buSzPts val="3750"/>
              <a:buFont typeface="Arial"/>
              <a:buNone/>
              <a:tabLst/>
              <a:defRPr/>
            </a:pPr>
            <a:r>
              <a:rPr kumimoji="0" lang="en-GB" sz="4000" b="0" i="0" u="none" strike="noStrike" kern="1200" cap="none" spc="0" normalizeH="0" baseline="0" noProof="0" dirty="0">
                <a:ln>
                  <a:noFill/>
                </a:ln>
                <a:solidFill>
                  <a:schemeClr val="bg1"/>
                </a:solidFill>
                <a:effectLst/>
                <a:uLnTx/>
                <a:uFillTx/>
                <a:latin typeface="+mn-lt"/>
                <a:ea typeface="+mj-ea"/>
                <a:cs typeface="+mj-cs"/>
              </a:rPr>
              <a:t>To help find the issues, we are going to use the </a:t>
            </a:r>
            <a:r>
              <a:rPr kumimoji="0" lang="en-GB" sz="4000" b="0" i="0" u="sng" strike="noStrike" kern="1200" cap="none" spc="0" normalizeH="0" baseline="0" noProof="0" dirty="0">
                <a:ln>
                  <a:noFill/>
                </a:ln>
                <a:solidFill>
                  <a:srgbClr val="92D050"/>
                </a:solidFill>
                <a:effectLst/>
                <a:uLnTx/>
                <a:uFillTx/>
                <a:latin typeface="+mn-lt"/>
                <a:ea typeface="+mj-ea"/>
                <a:cs typeface="+mj-cs"/>
                <a:hlinkClick r:id="rId3">
                  <a:extLst>
                    <a:ext uri="{A12FA001-AC4F-418D-AE19-62706E023703}">
                      <ahyp:hlinkClr xmlns:ahyp="http://schemas.microsoft.com/office/drawing/2018/hyperlinkcolor" val="tx"/>
                    </a:ext>
                  </a:extLst>
                </a:hlinkClick>
              </a:rPr>
              <a:t>WAVE accessibility plugin</a:t>
            </a:r>
            <a:r>
              <a:rPr kumimoji="0" lang="en-GB" sz="4000" b="0" i="0" u="none" strike="noStrike" kern="1200" cap="none" spc="0" normalizeH="0" baseline="0" noProof="0" dirty="0">
                <a:ln>
                  <a:noFill/>
                </a:ln>
                <a:solidFill>
                  <a:srgbClr val="92D050"/>
                </a:solidFill>
                <a:effectLst/>
                <a:uLnTx/>
                <a:uFillTx/>
                <a:latin typeface="+mn-lt"/>
                <a:ea typeface="+mj-ea"/>
                <a:cs typeface="+mj-cs"/>
              </a:rPr>
              <a:t> </a:t>
            </a:r>
            <a:br>
              <a:rPr kumimoji="0" lang="en-GB" sz="4000" b="0" i="0" u="none" strike="noStrike" kern="1200" cap="none" spc="0" normalizeH="0" baseline="0" noProof="0" dirty="0">
                <a:ln>
                  <a:noFill/>
                </a:ln>
                <a:solidFill>
                  <a:schemeClr val="bg1"/>
                </a:solidFill>
                <a:effectLst/>
                <a:uLnTx/>
                <a:uFillTx/>
                <a:latin typeface="+mn-lt"/>
                <a:ea typeface="+mj-ea"/>
                <a:cs typeface="+mj-cs"/>
              </a:rPr>
            </a:br>
            <a:br>
              <a:rPr kumimoji="0" lang="en-GB" sz="4000" b="0" i="0" u="none" strike="noStrike" kern="1200" cap="none" spc="0" normalizeH="0" baseline="0" noProof="0" dirty="0">
                <a:ln>
                  <a:noFill/>
                </a:ln>
                <a:solidFill>
                  <a:schemeClr val="bg1"/>
                </a:solidFill>
                <a:effectLst/>
                <a:uLnTx/>
                <a:uFillTx/>
                <a:latin typeface="+mn-lt"/>
                <a:ea typeface="+mj-ea"/>
                <a:cs typeface="+mj-cs"/>
              </a:rPr>
            </a:br>
            <a:r>
              <a:rPr kumimoji="0" lang="en-GB" sz="4000" b="0" i="0" u="none" strike="noStrike" kern="1200" cap="none" spc="0" normalizeH="0" baseline="0" noProof="0" dirty="0">
                <a:ln>
                  <a:noFill/>
                </a:ln>
                <a:solidFill>
                  <a:schemeClr val="bg1"/>
                </a:solidFill>
                <a:effectLst/>
                <a:uLnTx/>
                <a:uFillTx/>
                <a:latin typeface="+mn-lt"/>
                <a:ea typeface="+mj-ea"/>
                <a:cs typeface="+mj-cs"/>
              </a:rPr>
              <a:t>We’ll also complete the exercise using just a keyboard. </a:t>
            </a:r>
          </a:p>
          <a:p>
            <a:pPr marL="0" marR="0" lvl="0" indent="0" algn="l" defTabSz="914400" rtl="0" eaLnBrk="1" fontAlgn="auto" latinLnBrk="0" hangingPunct="1">
              <a:lnSpc>
                <a:spcPct val="96000"/>
              </a:lnSpc>
              <a:spcBef>
                <a:spcPts val="0"/>
              </a:spcBef>
              <a:spcAft>
                <a:spcPts val="0"/>
              </a:spcAft>
              <a:buClr>
                <a:schemeClr val="lt1"/>
              </a:buClr>
              <a:buSzPts val="3750"/>
              <a:buFont typeface="Arial"/>
              <a:buNone/>
              <a:tabLst/>
              <a:defRPr/>
            </a:pPr>
            <a:endParaRPr kumimoji="0" lang="en-GB" sz="4000" b="0" i="0" u="none" strike="noStrike" kern="1200" cap="none" spc="0" normalizeH="0" baseline="0" noProof="0" dirty="0">
              <a:ln>
                <a:noFill/>
              </a:ln>
              <a:solidFill>
                <a:schemeClr val="bg1"/>
              </a:solidFill>
              <a:effectLst/>
              <a:uLnTx/>
              <a:uFillTx/>
              <a:latin typeface="+mn-lt"/>
              <a:ea typeface="+mj-ea"/>
              <a:cs typeface="+mj-cs"/>
            </a:endParaRPr>
          </a:p>
          <a:p>
            <a:pPr marL="0" marR="0" lvl="0" indent="0" algn="l" defTabSz="914400" rtl="0" eaLnBrk="1" fontAlgn="auto" latinLnBrk="0" hangingPunct="1">
              <a:lnSpc>
                <a:spcPct val="96000"/>
              </a:lnSpc>
              <a:spcBef>
                <a:spcPts val="0"/>
              </a:spcBef>
              <a:spcAft>
                <a:spcPts val="0"/>
              </a:spcAft>
              <a:buClr>
                <a:schemeClr val="lt1"/>
              </a:buClr>
              <a:buSzPts val="3750"/>
              <a:buFont typeface="Arial"/>
              <a:buNone/>
              <a:tabLst/>
              <a:defRPr/>
            </a:pPr>
            <a:r>
              <a:rPr lang="en-GB" sz="4000" dirty="0">
                <a:solidFill>
                  <a:schemeClr val="bg1"/>
                </a:solidFill>
                <a:ea typeface="+mj-ea"/>
                <a:cs typeface="+mj-cs"/>
              </a:rPr>
              <a:t>You could also use other automated or manual tools, including code inspection or assistive technology to help you if you know how as an extra activity.</a:t>
            </a:r>
            <a:br>
              <a:rPr kumimoji="0" lang="en-GB" sz="4000" b="0" i="0" u="none" strike="noStrike" kern="1200" cap="none" spc="0" normalizeH="0" baseline="0" noProof="0" dirty="0">
                <a:ln>
                  <a:noFill/>
                </a:ln>
                <a:solidFill>
                  <a:schemeClr val="bg1"/>
                </a:solidFill>
                <a:effectLst/>
                <a:uLnTx/>
                <a:uFillTx/>
                <a:latin typeface="+mn-lt"/>
                <a:ea typeface="+mj-ea"/>
                <a:cs typeface="+mj-cs"/>
              </a:rPr>
            </a:br>
            <a:endParaRPr kumimoji="0" lang="en-GB" sz="3750" b="0" i="0" u="none" strike="noStrike" kern="1200" cap="none" spc="0" normalizeH="0" baseline="0" noProof="0" dirty="0">
              <a:ln>
                <a:noFill/>
              </a:ln>
              <a:solidFill>
                <a:schemeClr val="bg1"/>
              </a:solidFill>
              <a:effectLst/>
              <a:uLnTx/>
              <a:uFillTx/>
              <a:latin typeface="+mj-lt"/>
              <a:ea typeface="+mj-ea"/>
              <a:cs typeface="+mj-cs"/>
            </a:endParaRPr>
          </a:p>
        </p:txBody>
      </p:sp>
      <p:pic>
        <p:nvPicPr>
          <p:cNvPr id="5" name="Picture 4" descr="A little cartoon ghost smiling">
            <a:extLst>
              <a:ext uri="{FF2B5EF4-FFF2-40B4-BE49-F238E27FC236}">
                <a16:creationId xmlns:a16="http://schemas.microsoft.com/office/drawing/2014/main" id="{857EB34F-6743-65EA-695F-7FA26E2080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96925" y="4424071"/>
            <a:ext cx="2248873" cy="2248873"/>
          </a:xfrm>
          <a:prstGeom prst="rect">
            <a:avLst/>
          </a:prstGeom>
        </p:spPr>
      </p:pic>
    </p:spTree>
    <p:extLst>
      <p:ext uri="{BB962C8B-B14F-4D97-AF65-F5344CB8AC3E}">
        <p14:creationId xmlns:p14="http://schemas.microsoft.com/office/powerpoint/2010/main" val="133760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CD685BD2-BE88-8FEB-FD2A-F10A936F44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55DE38-7577-D15F-DD01-81A4BF53FACA}"/>
              </a:ext>
            </a:extLst>
          </p:cNvPr>
          <p:cNvSpPr txBox="1">
            <a:spLocks noGrp="1"/>
          </p:cNvSpPr>
          <p:nvPr>
            <p:ph type="title" idx="4294967295"/>
          </p:nvPr>
        </p:nvSpPr>
        <p:spPr>
          <a:xfrm>
            <a:off x="530586" y="425423"/>
            <a:ext cx="11025285"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WAVE</a:t>
            </a:r>
          </a:p>
        </p:txBody>
      </p:sp>
      <p:sp>
        <p:nvSpPr>
          <p:cNvPr id="5" name="Title 4">
            <a:extLst>
              <a:ext uri="{FF2B5EF4-FFF2-40B4-BE49-F238E27FC236}">
                <a16:creationId xmlns:a16="http://schemas.microsoft.com/office/drawing/2014/main" id="{A33CBAFD-E910-725F-841D-2A9D7C623654}"/>
              </a:ext>
            </a:extLst>
          </p:cNvPr>
          <p:cNvSpPr txBox="1">
            <a:spLocks/>
          </p:cNvSpPr>
          <p:nvPr/>
        </p:nvSpPr>
        <p:spPr>
          <a:xfrm>
            <a:off x="415601" y="1173996"/>
            <a:ext cx="7166300" cy="40318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189" marR="0" lvl="0" indent="-457189" algn="l" defTabSz="914400" rtl="0" eaLnBrk="1" fontAlgn="auto" latinLnBrk="0" hangingPunct="1">
              <a:lnSpc>
                <a:spcPct val="100000"/>
              </a:lnSpc>
              <a:spcBef>
                <a:spcPts val="0"/>
              </a:spcBef>
              <a:spcAft>
                <a:spcPts val="0"/>
              </a:spcAft>
              <a:buClr>
                <a:schemeClr val="bg1"/>
              </a:buClr>
              <a:buSzTx/>
              <a:buFont typeface="Arial" panose="020B0604020202020204" pitchFamily="34" charset="0"/>
              <a:buChar char="•"/>
              <a:tabLst/>
              <a:defRPr/>
            </a:pPr>
            <a:r>
              <a:rPr kumimoji="0" lang="en-GB"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WAVE is an automated accessibility checking tool</a:t>
            </a:r>
          </a:p>
          <a:p>
            <a:pPr marL="457189" marR="0" lvl="0" indent="-457189" algn="l" defTabSz="914400" rtl="0" eaLnBrk="1" fontAlgn="auto" latinLnBrk="0" hangingPunct="1">
              <a:lnSpc>
                <a:spcPct val="100000"/>
              </a:lnSpc>
              <a:spcBef>
                <a:spcPts val="0"/>
              </a:spcBef>
              <a:spcAft>
                <a:spcPts val="0"/>
              </a:spcAft>
              <a:buClr>
                <a:schemeClr val="bg1"/>
              </a:buClr>
              <a:buSzTx/>
              <a:buFont typeface="Arial" panose="020B0604020202020204" pitchFamily="34" charset="0"/>
              <a:buChar char="•"/>
              <a:tabLst/>
              <a:defRPr/>
            </a:pPr>
            <a:r>
              <a:rPr kumimoji="0" lang="en-GB"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These tools are handy but only detect around 20-30% of accessibility issues</a:t>
            </a:r>
          </a:p>
          <a:p>
            <a:pPr marL="457189" marR="0" lvl="0" indent="-457189" algn="l" defTabSz="914400" rtl="0" eaLnBrk="1" fontAlgn="auto" latinLnBrk="0" hangingPunct="1">
              <a:lnSpc>
                <a:spcPct val="100000"/>
              </a:lnSpc>
              <a:spcBef>
                <a:spcPts val="0"/>
              </a:spcBef>
              <a:spcAft>
                <a:spcPts val="0"/>
              </a:spcAft>
              <a:buClr>
                <a:schemeClr val="bg1"/>
              </a:buClr>
              <a:buSzTx/>
              <a:buFont typeface="Arial" panose="020B0604020202020204" pitchFamily="34" charset="0"/>
              <a:buChar char="•"/>
              <a:tabLst/>
              <a:defRPr/>
            </a:pPr>
            <a:r>
              <a:rPr kumimoji="0" lang="en-GB"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Useful to get a quick idea of accessibility ahead of full manual checks.</a:t>
            </a:r>
          </a:p>
        </p:txBody>
      </p:sp>
      <p:pic>
        <p:nvPicPr>
          <p:cNvPr id="4" name="Picture 3" descr="screenshot of the details tab of Wave accessibility evaluation tool">
            <a:extLst>
              <a:ext uri="{FF2B5EF4-FFF2-40B4-BE49-F238E27FC236}">
                <a16:creationId xmlns:a16="http://schemas.microsoft.com/office/drawing/2014/main" id="{B0CCAAB6-231C-A2B9-2555-9D79DCA02DEC}"/>
              </a:ext>
            </a:extLst>
          </p:cNvPr>
          <p:cNvPicPr>
            <a:picLocks noChangeAspect="1"/>
          </p:cNvPicPr>
          <p:nvPr/>
        </p:nvPicPr>
        <p:blipFill>
          <a:blip r:embed="rId3"/>
          <a:stretch>
            <a:fillRect/>
          </a:stretch>
        </p:blipFill>
        <p:spPr>
          <a:xfrm>
            <a:off x="8077625" y="600170"/>
            <a:ext cx="3744116" cy="5179527"/>
          </a:xfrm>
          <a:prstGeom prst="rect">
            <a:avLst/>
          </a:prstGeom>
        </p:spPr>
      </p:pic>
      <p:pic>
        <p:nvPicPr>
          <p:cNvPr id="9" name="Picture 8" descr="Cartoon ghost friends with orange winter hats, holding coffee cups with some bats flying overhead&#10;&#10;">
            <a:extLst>
              <a:ext uri="{FF2B5EF4-FFF2-40B4-BE49-F238E27FC236}">
                <a16:creationId xmlns:a16="http://schemas.microsoft.com/office/drawing/2014/main" id="{C7CAB3E5-5698-B42E-EC2C-BB87B3319E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6000" y="4475892"/>
            <a:ext cx="2755901" cy="2755901"/>
          </a:xfrm>
          <a:prstGeom prst="rect">
            <a:avLst/>
          </a:prstGeom>
        </p:spPr>
      </p:pic>
    </p:spTree>
    <p:extLst>
      <p:ext uri="{BB962C8B-B14F-4D97-AF65-F5344CB8AC3E}">
        <p14:creationId xmlns:p14="http://schemas.microsoft.com/office/powerpoint/2010/main" val="222850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5E5CBC5D-0BEA-CC28-F6F9-02A7CEE9D5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CCEFF2E-CF38-4F19-BB6D-2B94E7D7E01B}"/>
              </a:ext>
            </a:extLst>
          </p:cNvPr>
          <p:cNvSpPr txBox="1">
            <a:spLocks noGrp="1"/>
          </p:cNvSpPr>
          <p:nvPr>
            <p:ph type="title" idx="4294967295"/>
          </p:nvPr>
        </p:nvSpPr>
        <p:spPr>
          <a:xfrm>
            <a:off x="177519" y="132080"/>
            <a:ext cx="554503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WAVE Order tab</a:t>
            </a:r>
          </a:p>
        </p:txBody>
      </p:sp>
      <p:pic>
        <p:nvPicPr>
          <p:cNvPr id="14" name="Picture 13" descr="A cartoon of a ghost and bats&#10;&#10;">
            <a:extLst>
              <a:ext uri="{FF2B5EF4-FFF2-40B4-BE49-F238E27FC236}">
                <a16:creationId xmlns:a16="http://schemas.microsoft.com/office/drawing/2014/main" id="{4B09177B-D77E-96B2-6E74-797191FD7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347" y="2195169"/>
            <a:ext cx="2467662" cy="2467662"/>
          </a:xfrm>
          <a:prstGeom prst="rect">
            <a:avLst/>
          </a:prstGeom>
        </p:spPr>
      </p:pic>
      <p:pic>
        <p:nvPicPr>
          <p:cNvPr id="6" name="Picture 5" descr="screenshot of the order tab of Wave accessibility evaluation tool showing how it works on a web page">
            <a:extLst>
              <a:ext uri="{FF2B5EF4-FFF2-40B4-BE49-F238E27FC236}">
                <a16:creationId xmlns:a16="http://schemas.microsoft.com/office/drawing/2014/main" id="{F9858F38-75AA-896B-E75D-522BB88EA738}"/>
              </a:ext>
            </a:extLst>
          </p:cNvPr>
          <p:cNvPicPr>
            <a:picLocks noChangeAspect="1"/>
          </p:cNvPicPr>
          <p:nvPr/>
        </p:nvPicPr>
        <p:blipFill>
          <a:blip r:embed="rId4"/>
          <a:stretch>
            <a:fillRect/>
          </a:stretch>
        </p:blipFill>
        <p:spPr>
          <a:xfrm>
            <a:off x="2950038" y="516162"/>
            <a:ext cx="8030018" cy="5532878"/>
          </a:xfrm>
          <a:prstGeom prst="rect">
            <a:avLst/>
          </a:prstGeom>
        </p:spPr>
      </p:pic>
    </p:spTree>
    <p:extLst>
      <p:ext uri="{BB962C8B-B14F-4D97-AF65-F5344CB8AC3E}">
        <p14:creationId xmlns:p14="http://schemas.microsoft.com/office/powerpoint/2010/main" val="1290848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A98F71FC-37DF-D96C-561F-9E93124519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A41963-F4C6-2213-FF1B-F91C86B31D5C}"/>
              </a:ext>
            </a:extLst>
          </p:cNvPr>
          <p:cNvSpPr txBox="1">
            <a:spLocks noGrp="1"/>
          </p:cNvSpPr>
          <p:nvPr>
            <p:ph type="title" idx="4294967295"/>
          </p:nvPr>
        </p:nvSpPr>
        <p:spPr>
          <a:xfrm>
            <a:off x="309599" y="193040"/>
            <a:ext cx="554503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WAVE structure and contrast tabs</a:t>
            </a:r>
          </a:p>
        </p:txBody>
      </p:sp>
      <p:pic>
        <p:nvPicPr>
          <p:cNvPr id="15" name="Picture 14" descr="A white ghost with a witches hat and flags which spell out Boo&#10;&#10;">
            <a:extLst>
              <a:ext uri="{FF2B5EF4-FFF2-40B4-BE49-F238E27FC236}">
                <a16:creationId xmlns:a16="http://schemas.microsoft.com/office/drawing/2014/main" id="{DFFB7560-AF77-B694-14C3-70464246B2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13" y="2404980"/>
            <a:ext cx="1918673" cy="1918673"/>
          </a:xfrm>
          <a:prstGeom prst="rect">
            <a:avLst/>
          </a:prstGeom>
        </p:spPr>
      </p:pic>
      <p:pic>
        <p:nvPicPr>
          <p:cNvPr id="4" name="Picture 3" descr="screenshot of the structure tab of Wave accessibility evaluation tool">
            <a:extLst>
              <a:ext uri="{FF2B5EF4-FFF2-40B4-BE49-F238E27FC236}">
                <a16:creationId xmlns:a16="http://schemas.microsoft.com/office/drawing/2014/main" id="{308997C1-DD76-6780-9054-94D735A27540}"/>
              </a:ext>
            </a:extLst>
          </p:cNvPr>
          <p:cNvPicPr>
            <a:picLocks noChangeAspect="1"/>
          </p:cNvPicPr>
          <p:nvPr/>
        </p:nvPicPr>
        <p:blipFill>
          <a:blip r:embed="rId4"/>
          <a:stretch>
            <a:fillRect/>
          </a:stretch>
        </p:blipFill>
        <p:spPr>
          <a:xfrm>
            <a:off x="2269493" y="696577"/>
            <a:ext cx="2916752" cy="5968383"/>
          </a:xfrm>
          <a:prstGeom prst="rect">
            <a:avLst/>
          </a:prstGeom>
        </p:spPr>
      </p:pic>
      <p:pic>
        <p:nvPicPr>
          <p:cNvPr id="10" name="Picture 9" descr="screenshot of the contrast/styles tab of Wave accessibility evaluation tool">
            <a:extLst>
              <a:ext uri="{FF2B5EF4-FFF2-40B4-BE49-F238E27FC236}">
                <a16:creationId xmlns:a16="http://schemas.microsoft.com/office/drawing/2014/main" id="{14627617-1ABF-E38E-96D7-E65184B5B2F4}"/>
              </a:ext>
            </a:extLst>
          </p:cNvPr>
          <p:cNvPicPr>
            <a:picLocks noChangeAspect="1"/>
          </p:cNvPicPr>
          <p:nvPr/>
        </p:nvPicPr>
        <p:blipFill>
          <a:blip r:embed="rId5"/>
          <a:stretch>
            <a:fillRect/>
          </a:stretch>
        </p:blipFill>
        <p:spPr>
          <a:xfrm>
            <a:off x="6564572" y="696576"/>
            <a:ext cx="3633104" cy="5945079"/>
          </a:xfrm>
          <a:prstGeom prst="rect">
            <a:avLst/>
          </a:prstGeom>
        </p:spPr>
      </p:pic>
    </p:spTree>
    <p:extLst>
      <p:ext uri="{BB962C8B-B14F-4D97-AF65-F5344CB8AC3E}">
        <p14:creationId xmlns:p14="http://schemas.microsoft.com/office/powerpoint/2010/main" val="374129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A5D399BA-43FC-972F-F410-1016ADD12B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CFB95D-7D71-F8BC-879C-D746A2877A01}"/>
              </a:ext>
            </a:extLst>
          </p:cNvPr>
          <p:cNvSpPr txBox="1">
            <a:spLocks noGrp="1"/>
          </p:cNvSpPr>
          <p:nvPr>
            <p:ph type="title" idx="4294967295"/>
          </p:nvPr>
        </p:nvSpPr>
        <p:spPr>
          <a:xfrm>
            <a:off x="530586" y="425423"/>
            <a:ext cx="11025285"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Keyboard testing</a:t>
            </a:r>
          </a:p>
        </p:txBody>
      </p:sp>
      <p:sp>
        <p:nvSpPr>
          <p:cNvPr id="5" name="TextBox 4">
            <a:extLst>
              <a:ext uri="{FF2B5EF4-FFF2-40B4-BE49-F238E27FC236}">
                <a16:creationId xmlns:a16="http://schemas.microsoft.com/office/drawing/2014/main" id="{6A93C804-6AC1-BD95-984D-B517C83DD0B8}"/>
              </a:ext>
            </a:extLst>
          </p:cNvPr>
          <p:cNvSpPr txBox="1"/>
          <p:nvPr/>
        </p:nvSpPr>
        <p:spPr>
          <a:xfrm>
            <a:off x="366087" y="1010198"/>
            <a:ext cx="11025285" cy="3046988"/>
          </a:xfrm>
          <a:prstGeom prst="rect">
            <a:avLst/>
          </a:prstGeom>
          <a:noFill/>
        </p:spPr>
        <p:txBody>
          <a:bodyPr wrap="square" rtlCol="0">
            <a:spAutoFit/>
          </a:bodyPr>
          <a:lstStyle/>
          <a:p>
            <a:pPr marL="457189" indent="-457189">
              <a:buClr>
                <a:schemeClr val="bg1"/>
              </a:buClr>
              <a:buFont typeface="Arial" panose="020B0604020202020204" pitchFamily="34" charset="0"/>
              <a:buChar char="•"/>
            </a:pPr>
            <a:r>
              <a:rPr lang="en-GB" sz="3200" dirty="0">
                <a:solidFill>
                  <a:schemeClr val="bg1"/>
                </a:solidFill>
                <a:latin typeface="Arial" panose="020B0604020202020204" pitchFamily="34" charset="0"/>
                <a:cs typeface="Arial" panose="020B0604020202020204" pitchFamily="34" charset="0"/>
              </a:rPr>
              <a:t>Start in the browser address bar</a:t>
            </a:r>
          </a:p>
          <a:p>
            <a:pPr marL="457189" indent="-457189">
              <a:buClr>
                <a:schemeClr val="bg1"/>
              </a:buClr>
              <a:buFont typeface="Arial" panose="020B0604020202020204" pitchFamily="34" charset="0"/>
              <a:buChar char="•"/>
            </a:pPr>
            <a:r>
              <a:rPr lang="en-GB" sz="3200" dirty="0">
                <a:solidFill>
                  <a:schemeClr val="bg1"/>
                </a:solidFill>
                <a:latin typeface="Arial" panose="020B0604020202020204" pitchFamily="34" charset="0"/>
                <a:cs typeface="Arial" panose="020B0604020202020204" pitchFamily="34" charset="0"/>
              </a:rPr>
              <a:t>Take your hand off the mouse and only use your keyboard (not the mouse pad on laptop).</a:t>
            </a:r>
          </a:p>
          <a:p>
            <a:pPr marL="457189" indent="-457189">
              <a:buClr>
                <a:schemeClr val="bg1"/>
              </a:buClr>
              <a:buFont typeface="Arial" panose="020B0604020202020204" pitchFamily="34" charset="0"/>
              <a:buChar char="•"/>
            </a:pPr>
            <a:r>
              <a:rPr lang="en-GB" sz="3200" dirty="0">
                <a:solidFill>
                  <a:schemeClr val="bg1"/>
                </a:solidFill>
                <a:latin typeface="Arial" panose="020B0604020202020204" pitchFamily="34" charset="0"/>
                <a:cs typeface="Arial" panose="020B0604020202020204" pitchFamily="34" charset="0"/>
              </a:rPr>
              <a:t>Using the Tab button, navigate through the page </a:t>
            </a:r>
          </a:p>
          <a:p>
            <a:pPr marL="457189" indent="-457189">
              <a:buClr>
                <a:schemeClr val="bg1"/>
              </a:buClr>
              <a:buFont typeface="Arial" panose="020B0604020202020204" pitchFamily="34" charset="0"/>
              <a:buChar char="•"/>
            </a:pPr>
            <a:r>
              <a:rPr lang="en-GB" sz="3200" dirty="0">
                <a:solidFill>
                  <a:schemeClr val="bg1"/>
                </a:solidFill>
                <a:latin typeface="Arial" panose="020B0604020202020204" pitchFamily="34" charset="0"/>
                <a:cs typeface="Arial" panose="020B0604020202020204" pitchFamily="34" charset="0"/>
              </a:rPr>
              <a:t>Use arrow keys, space and enter to work through the service.</a:t>
            </a:r>
          </a:p>
        </p:txBody>
      </p:sp>
      <p:pic>
        <p:nvPicPr>
          <p:cNvPr id="7" name="Picture 6" descr="A cartoon ghost holding a laptop computer">
            <a:extLst>
              <a:ext uri="{FF2B5EF4-FFF2-40B4-BE49-F238E27FC236}">
                <a16:creationId xmlns:a16="http://schemas.microsoft.com/office/drawing/2014/main" id="{26679D82-2344-2EFA-DAFC-97078369BE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0794" y="3854750"/>
            <a:ext cx="2800052" cy="2800052"/>
          </a:xfrm>
          <a:prstGeom prst="rect">
            <a:avLst/>
          </a:prstGeom>
        </p:spPr>
      </p:pic>
    </p:spTree>
    <p:extLst>
      <p:ext uri="{BB962C8B-B14F-4D97-AF65-F5344CB8AC3E}">
        <p14:creationId xmlns:p14="http://schemas.microsoft.com/office/powerpoint/2010/main" val="301710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57A516BA-0EF0-1ED8-606B-E07FD62AA6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178AAB-93DB-8EA2-A7FD-4338C3A91CD7}"/>
              </a:ext>
            </a:extLst>
          </p:cNvPr>
          <p:cNvSpPr txBox="1">
            <a:spLocks noGrp="1"/>
          </p:cNvSpPr>
          <p:nvPr>
            <p:ph type="title" idx="4294967295"/>
          </p:nvPr>
        </p:nvSpPr>
        <p:spPr>
          <a:xfrm>
            <a:off x="177519" y="132080"/>
            <a:ext cx="554503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Keyboard commands</a:t>
            </a:r>
          </a:p>
        </p:txBody>
      </p:sp>
      <p:graphicFrame>
        <p:nvGraphicFramePr>
          <p:cNvPr id="3" name="Table 2">
            <a:extLst>
              <a:ext uri="{FF2B5EF4-FFF2-40B4-BE49-F238E27FC236}">
                <a16:creationId xmlns:a16="http://schemas.microsoft.com/office/drawing/2014/main" id="{7C9C95FF-1CA4-A6BE-E729-A880038F1570}"/>
              </a:ext>
            </a:extLst>
          </p:cNvPr>
          <p:cNvGraphicFramePr>
            <a:graphicFrameLocks noGrp="1"/>
          </p:cNvGraphicFramePr>
          <p:nvPr>
            <p:extLst>
              <p:ext uri="{D42A27DB-BD31-4B8C-83A1-F6EECF244321}">
                <p14:modId xmlns:p14="http://schemas.microsoft.com/office/powerpoint/2010/main" val="1133334823"/>
              </p:ext>
            </p:extLst>
          </p:nvPr>
        </p:nvGraphicFramePr>
        <p:xfrm>
          <a:off x="1131832" y="634712"/>
          <a:ext cx="8741658" cy="5588575"/>
        </p:xfrm>
        <a:graphic>
          <a:graphicData uri="http://schemas.openxmlformats.org/drawingml/2006/table">
            <a:tbl>
              <a:tblPr firstRow="1" bandRow="1"/>
              <a:tblGrid>
                <a:gridCol w="2884746">
                  <a:extLst>
                    <a:ext uri="{9D8B030D-6E8A-4147-A177-3AD203B41FA5}">
                      <a16:colId xmlns:a16="http://schemas.microsoft.com/office/drawing/2014/main" val="1859224905"/>
                    </a:ext>
                  </a:extLst>
                </a:gridCol>
                <a:gridCol w="5856912">
                  <a:extLst>
                    <a:ext uri="{9D8B030D-6E8A-4147-A177-3AD203B41FA5}">
                      <a16:colId xmlns:a16="http://schemas.microsoft.com/office/drawing/2014/main" val="3979825227"/>
                    </a:ext>
                  </a:extLst>
                </a:gridCol>
              </a:tblGrid>
              <a:tr h="555770">
                <a:tc>
                  <a:txBody>
                    <a:bodyPr/>
                    <a:lstStyle>
                      <a:lvl1pPr marL="0" algn="l" defTabSz="914400" rtl="0" eaLnBrk="1" latinLnBrk="0" hangingPunct="1">
                        <a:defRPr sz="1800" b="1" kern="1200">
                          <a:solidFill>
                            <a:schemeClr val="lt1"/>
                          </a:solidFill>
                          <a:latin typeface="Helvetica"/>
                        </a:defRPr>
                      </a:lvl1pPr>
                      <a:lvl2pPr marL="457200" algn="l" defTabSz="914400" rtl="0" eaLnBrk="1" latinLnBrk="0" hangingPunct="1">
                        <a:defRPr sz="1800" b="1" kern="1200">
                          <a:solidFill>
                            <a:schemeClr val="lt1"/>
                          </a:solidFill>
                          <a:latin typeface="Helvetica"/>
                        </a:defRPr>
                      </a:lvl2pPr>
                      <a:lvl3pPr marL="914400" algn="l" defTabSz="914400" rtl="0" eaLnBrk="1" latinLnBrk="0" hangingPunct="1">
                        <a:defRPr sz="1800" b="1" kern="1200">
                          <a:solidFill>
                            <a:schemeClr val="lt1"/>
                          </a:solidFill>
                          <a:latin typeface="Helvetica"/>
                        </a:defRPr>
                      </a:lvl3pPr>
                      <a:lvl4pPr marL="1371600" algn="l" defTabSz="914400" rtl="0" eaLnBrk="1" latinLnBrk="0" hangingPunct="1">
                        <a:defRPr sz="1800" b="1" kern="1200">
                          <a:solidFill>
                            <a:schemeClr val="lt1"/>
                          </a:solidFill>
                          <a:latin typeface="Helvetica"/>
                        </a:defRPr>
                      </a:lvl4pPr>
                      <a:lvl5pPr marL="1828800" algn="l" defTabSz="914400" rtl="0" eaLnBrk="1" latinLnBrk="0" hangingPunct="1">
                        <a:defRPr sz="1800" b="1" kern="1200">
                          <a:solidFill>
                            <a:schemeClr val="lt1"/>
                          </a:solidFill>
                          <a:latin typeface="Helvetica"/>
                        </a:defRPr>
                      </a:lvl5pPr>
                      <a:lvl6pPr marL="2286000" algn="l" defTabSz="914400" rtl="0" eaLnBrk="1" latinLnBrk="0" hangingPunct="1">
                        <a:defRPr sz="1800" b="1" kern="1200">
                          <a:solidFill>
                            <a:schemeClr val="lt1"/>
                          </a:solidFill>
                          <a:latin typeface="Helvetica"/>
                        </a:defRPr>
                      </a:lvl6pPr>
                      <a:lvl7pPr marL="2743200" algn="l" defTabSz="914400" rtl="0" eaLnBrk="1" latinLnBrk="0" hangingPunct="1">
                        <a:defRPr sz="1800" b="1" kern="1200">
                          <a:solidFill>
                            <a:schemeClr val="lt1"/>
                          </a:solidFill>
                          <a:latin typeface="Helvetica"/>
                        </a:defRPr>
                      </a:lvl7pPr>
                      <a:lvl8pPr marL="3200400" algn="l" defTabSz="914400" rtl="0" eaLnBrk="1" latinLnBrk="0" hangingPunct="1">
                        <a:defRPr sz="1800" b="1" kern="1200">
                          <a:solidFill>
                            <a:schemeClr val="lt1"/>
                          </a:solidFill>
                          <a:latin typeface="Helvetica"/>
                        </a:defRPr>
                      </a:lvl8pPr>
                      <a:lvl9pPr marL="3657600" algn="l" defTabSz="914400" rtl="0" eaLnBrk="1" latinLnBrk="0" hangingPunct="1">
                        <a:defRPr sz="1800" b="1" kern="1200">
                          <a:solidFill>
                            <a:schemeClr val="lt1"/>
                          </a:solidFill>
                          <a:latin typeface="Helvetica"/>
                        </a:defRPr>
                      </a:lvl9pPr>
                    </a:lstStyle>
                    <a:p>
                      <a:pPr algn="l" rtl="0" fontAlgn="base"/>
                      <a:r>
                        <a:rPr lang="en-GB" sz="2800" dirty="0">
                          <a:solidFill>
                            <a:schemeClr val="tx1"/>
                          </a:solidFill>
                          <a:effectLst/>
                          <a:latin typeface="+mn-lt"/>
                        </a:rPr>
                        <a:t>Key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100"/>
                    </a:solidFill>
                  </a:tcPr>
                </a:tc>
                <a:tc>
                  <a:txBody>
                    <a:bodyPr/>
                    <a:lstStyle>
                      <a:lvl1pPr marL="0" algn="l" defTabSz="914400" rtl="0" eaLnBrk="1" latinLnBrk="0" hangingPunct="1">
                        <a:defRPr sz="1800" b="1" kern="1200">
                          <a:solidFill>
                            <a:schemeClr val="lt1"/>
                          </a:solidFill>
                          <a:latin typeface="Helvetica"/>
                        </a:defRPr>
                      </a:lvl1pPr>
                      <a:lvl2pPr marL="457200" algn="l" defTabSz="914400" rtl="0" eaLnBrk="1" latinLnBrk="0" hangingPunct="1">
                        <a:defRPr sz="1800" b="1" kern="1200">
                          <a:solidFill>
                            <a:schemeClr val="lt1"/>
                          </a:solidFill>
                          <a:latin typeface="Helvetica"/>
                        </a:defRPr>
                      </a:lvl2pPr>
                      <a:lvl3pPr marL="914400" algn="l" defTabSz="914400" rtl="0" eaLnBrk="1" latinLnBrk="0" hangingPunct="1">
                        <a:defRPr sz="1800" b="1" kern="1200">
                          <a:solidFill>
                            <a:schemeClr val="lt1"/>
                          </a:solidFill>
                          <a:latin typeface="Helvetica"/>
                        </a:defRPr>
                      </a:lvl3pPr>
                      <a:lvl4pPr marL="1371600" algn="l" defTabSz="914400" rtl="0" eaLnBrk="1" latinLnBrk="0" hangingPunct="1">
                        <a:defRPr sz="1800" b="1" kern="1200">
                          <a:solidFill>
                            <a:schemeClr val="lt1"/>
                          </a:solidFill>
                          <a:latin typeface="Helvetica"/>
                        </a:defRPr>
                      </a:lvl4pPr>
                      <a:lvl5pPr marL="1828800" algn="l" defTabSz="914400" rtl="0" eaLnBrk="1" latinLnBrk="0" hangingPunct="1">
                        <a:defRPr sz="1800" b="1" kern="1200">
                          <a:solidFill>
                            <a:schemeClr val="lt1"/>
                          </a:solidFill>
                          <a:latin typeface="Helvetica"/>
                        </a:defRPr>
                      </a:lvl5pPr>
                      <a:lvl6pPr marL="2286000" algn="l" defTabSz="914400" rtl="0" eaLnBrk="1" latinLnBrk="0" hangingPunct="1">
                        <a:defRPr sz="1800" b="1" kern="1200">
                          <a:solidFill>
                            <a:schemeClr val="lt1"/>
                          </a:solidFill>
                          <a:latin typeface="Helvetica"/>
                        </a:defRPr>
                      </a:lvl6pPr>
                      <a:lvl7pPr marL="2743200" algn="l" defTabSz="914400" rtl="0" eaLnBrk="1" latinLnBrk="0" hangingPunct="1">
                        <a:defRPr sz="1800" b="1" kern="1200">
                          <a:solidFill>
                            <a:schemeClr val="lt1"/>
                          </a:solidFill>
                          <a:latin typeface="Helvetica"/>
                        </a:defRPr>
                      </a:lvl7pPr>
                      <a:lvl8pPr marL="3200400" algn="l" defTabSz="914400" rtl="0" eaLnBrk="1" latinLnBrk="0" hangingPunct="1">
                        <a:defRPr sz="1800" b="1" kern="1200">
                          <a:solidFill>
                            <a:schemeClr val="lt1"/>
                          </a:solidFill>
                          <a:latin typeface="Helvetica"/>
                        </a:defRPr>
                      </a:lvl8pPr>
                      <a:lvl9pPr marL="3657600" algn="l" defTabSz="914400" rtl="0" eaLnBrk="1" latinLnBrk="0" hangingPunct="1">
                        <a:defRPr sz="1800" b="1" kern="1200">
                          <a:solidFill>
                            <a:schemeClr val="lt1"/>
                          </a:solidFill>
                          <a:latin typeface="Helvetica"/>
                        </a:defRPr>
                      </a:lvl9pPr>
                    </a:lstStyle>
                    <a:p>
                      <a:pPr algn="l" rtl="0" fontAlgn="base"/>
                      <a:r>
                        <a:rPr lang="en-GB" sz="2800" dirty="0">
                          <a:solidFill>
                            <a:schemeClr val="tx1"/>
                          </a:solidFill>
                          <a:effectLst/>
                          <a:latin typeface="+mn-lt"/>
                        </a:rPr>
                        <a:t>Action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100"/>
                    </a:solidFill>
                  </a:tcPr>
                </a:tc>
                <a:extLst>
                  <a:ext uri="{0D108BD9-81ED-4DB2-BD59-A6C34878D82A}">
                    <a16:rowId xmlns:a16="http://schemas.microsoft.com/office/drawing/2014/main" val="2846345938"/>
                  </a:ext>
                </a:extLst>
              </a:tr>
              <a:tr h="540332">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a:effectLst/>
                          <a:latin typeface="+mn-lt"/>
                        </a:rPr>
                        <a:t>Tab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a:effectLst/>
                          <a:latin typeface="+mn-lt"/>
                        </a:rPr>
                        <a:t>Go to next focusable item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extLst>
                  <a:ext uri="{0D108BD9-81ED-4DB2-BD59-A6C34878D82A}">
                    <a16:rowId xmlns:a16="http://schemas.microsoft.com/office/drawing/2014/main" val="3337768158"/>
                  </a:ext>
                </a:extLst>
              </a:tr>
              <a:tr h="540332">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dirty="0">
                          <a:effectLst/>
                          <a:latin typeface="+mn-lt"/>
                        </a:rPr>
                        <a:t>Shift-tab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dirty="0">
                          <a:effectLst/>
                          <a:latin typeface="+mn-lt"/>
                        </a:rPr>
                        <a:t>Go to previous focusable item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524815527"/>
                  </a:ext>
                </a:extLst>
              </a:tr>
              <a:tr h="957159">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dirty="0">
                          <a:effectLst/>
                          <a:latin typeface="+mn-lt"/>
                        </a:rPr>
                        <a:t>Arrow keys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dirty="0">
                          <a:effectLst/>
                          <a:latin typeface="+mn-lt"/>
                        </a:rPr>
                        <a:t>Scroll the page, move between list items, tabs, radio buttons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extLst>
                  <a:ext uri="{0D108BD9-81ED-4DB2-BD59-A6C34878D82A}">
                    <a16:rowId xmlns:a16="http://schemas.microsoft.com/office/drawing/2014/main" val="1448467653"/>
                  </a:ext>
                </a:extLst>
              </a:tr>
              <a:tr h="957159">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dirty="0">
                          <a:effectLst/>
                          <a:latin typeface="+mn-lt"/>
                        </a:rPr>
                        <a:t>Space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dirty="0">
                          <a:effectLst/>
                          <a:latin typeface="+mn-lt"/>
                        </a:rPr>
                        <a:t>Open dropdown, check/uncheck checkbox, page down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09795968"/>
                  </a:ext>
                </a:extLst>
              </a:tr>
              <a:tr h="540332">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a:effectLst/>
                          <a:latin typeface="+mn-lt"/>
                        </a:rPr>
                        <a:t>Enter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dirty="0">
                          <a:effectLst/>
                          <a:latin typeface="+mn-lt"/>
                        </a:rPr>
                        <a:t>Select item in dropdown, “click”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extLst>
                  <a:ext uri="{0D108BD9-81ED-4DB2-BD59-A6C34878D82A}">
                    <a16:rowId xmlns:a16="http://schemas.microsoft.com/office/drawing/2014/main" val="2435098480"/>
                  </a:ext>
                </a:extLst>
              </a:tr>
              <a:tr h="540332">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a:effectLst/>
                          <a:latin typeface="+mn-lt"/>
                        </a:rPr>
                        <a:t>Esc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a:effectLst/>
                          <a:latin typeface="+mn-lt"/>
                        </a:rPr>
                        <a:t>Close dialog, cancel a prompt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68999622"/>
                  </a:ext>
                </a:extLst>
              </a:tr>
              <a:tr h="957159">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b="1" dirty="0" err="1">
                          <a:effectLst/>
                          <a:latin typeface="+mn-lt"/>
                        </a:rPr>
                        <a:t>Command+L</a:t>
                      </a:r>
                      <a:r>
                        <a:rPr lang="en-GB" sz="2700" b="1" dirty="0">
                          <a:effectLst/>
                          <a:latin typeface="+mn-lt"/>
                        </a:rPr>
                        <a:t> / </a:t>
                      </a:r>
                      <a:r>
                        <a:rPr lang="en-GB" sz="2700" b="1" dirty="0" err="1">
                          <a:effectLst/>
                          <a:latin typeface="+mn-lt"/>
                        </a:rPr>
                        <a:t>Ctrl+L</a:t>
                      </a:r>
                      <a:r>
                        <a:rPr lang="en-GB" sz="2700" b="1" dirty="0">
                          <a:effectLst/>
                          <a:latin typeface="+mn-lt"/>
                        </a:rPr>
                        <a:t> </a:t>
                      </a:r>
                      <a:endParaRPr lang="en-US" sz="2700" b="1" dirty="0">
                        <a:latin typeface="+mn-lt"/>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tc>
                  <a:txBody>
                    <a:bodyPr/>
                    <a:lstStyle>
                      <a:lvl1pPr marL="0" algn="l" defTabSz="914400" rtl="0" eaLnBrk="1" latinLnBrk="0" hangingPunct="1">
                        <a:defRPr sz="1800" kern="1200">
                          <a:solidFill>
                            <a:schemeClr val="dk1"/>
                          </a:solidFill>
                          <a:latin typeface="Helvetica"/>
                        </a:defRPr>
                      </a:lvl1pPr>
                      <a:lvl2pPr marL="457200" algn="l" defTabSz="914400" rtl="0" eaLnBrk="1" latinLnBrk="0" hangingPunct="1">
                        <a:defRPr sz="1800" kern="1200">
                          <a:solidFill>
                            <a:schemeClr val="dk1"/>
                          </a:solidFill>
                          <a:latin typeface="Helvetica"/>
                        </a:defRPr>
                      </a:lvl2pPr>
                      <a:lvl3pPr marL="914400" algn="l" defTabSz="914400" rtl="0" eaLnBrk="1" latinLnBrk="0" hangingPunct="1">
                        <a:defRPr sz="1800" kern="1200">
                          <a:solidFill>
                            <a:schemeClr val="dk1"/>
                          </a:solidFill>
                          <a:latin typeface="Helvetica"/>
                        </a:defRPr>
                      </a:lvl3pPr>
                      <a:lvl4pPr marL="1371600" algn="l" defTabSz="914400" rtl="0" eaLnBrk="1" latinLnBrk="0" hangingPunct="1">
                        <a:defRPr sz="1800" kern="1200">
                          <a:solidFill>
                            <a:schemeClr val="dk1"/>
                          </a:solidFill>
                          <a:latin typeface="Helvetica"/>
                        </a:defRPr>
                      </a:lvl4pPr>
                      <a:lvl5pPr marL="1828800" algn="l" defTabSz="914400" rtl="0" eaLnBrk="1" latinLnBrk="0" hangingPunct="1">
                        <a:defRPr sz="1800" kern="1200">
                          <a:solidFill>
                            <a:schemeClr val="dk1"/>
                          </a:solidFill>
                          <a:latin typeface="Helvetica"/>
                        </a:defRPr>
                      </a:lvl5pPr>
                      <a:lvl6pPr marL="2286000" algn="l" defTabSz="914400" rtl="0" eaLnBrk="1" latinLnBrk="0" hangingPunct="1">
                        <a:defRPr sz="1800" kern="1200">
                          <a:solidFill>
                            <a:schemeClr val="dk1"/>
                          </a:solidFill>
                          <a:latin typeface="Helvetica"/>
                        </a:defRPr>
                      </a:lvl6pPr>
                      <a:lvl7pPr marL="2743200" algn="l" defTabSz="914400" rtl="0" eaLnBrk="1" latinLnBrk="0" hangingPunct="1">
                        <a:defRPr sz="1800" kern="1200">
                          <a:solidFill>
                            <a:schemeClr val="dk1"/>
                          </a:solidFill>
                          <a:latin typeface="Helvetica"/>
                        </a:defRPr>
                      </a:lvl7pPr>
                      <a:lvl8pPr marL="3200400" algn="l" defTabSz="914400" rtl="0" eaLnBrk="1" latinLnBrk="0" hangingPunct="1">
                        <a:defRPr sz="1800" kern="1200">
                          <a:solidFill>
                            <a:schemeClr val="dk1"/>
                          </a:solidFill>
                          <a:latin typeface="Helvetica"/>
                        </a:defRPr>
                      </a:lvl8pPr>
                      <a:lvl9pPr marL="3657600" algn="l" defTabSz="914400" rtl="0" eaLnBrk="1" latinLnBrk="0" hangingPunct="1">
                        <a:defRPr sz="1800" kern="1200">
                          <a:solidFill>
                            <a:schemeClr val="dk1"/>
                          </a:solidFill>
                          <a:latin typeface="Helvetica"/>
                        </a:defRPr>
                      </a:lvl9pPr>
                    </a:lstStyle>
                    <a:p>
                      <a:pPr algn="l" rtl="0" fontAlgn="base"/>
                      <a:r>
                        <a:rPr lang="en-GB" sz="2700" dirty="0">
                          <a:effectLst/>
                          <a:latin typeface="+mn-lt"/>
                        </a:rPr>
                        <a:t>Go to address bar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47A">
                        <a:tint val="20000"/>
                      </a:srgbClr>
                    </a:solidFill>
                  </a:tcPr>
                </a:tc>
                <a:extLst>
                  <a:ext uri="{0D108BD9-81ED-4DB2-BD59-A6C34878D82A}">
                    <a16:rowId xmlns:a16="http://schemas.microsoft.com/office/drawing/2014/main" val="429327324"/>
                  </a:ext>
                </a:extLst>
              </a:tr>
            </a:tbl>
          </a:graphicData>
        </a:graphic>
      </p:graphicFrame>
      <p:pic>
        <p:nvPicPr>
          <p:cNvPr id="8" name="Picture 7" descr="A cartoon of a ghost reading a book&#10;&#10;">
            <a:extLst>
              <a:ext uri="{FF2B5EF4-FFF2-40B4-BE49-F238E27FC236}">
                <a16:creationId xmlns:a16="http://schemas.microsoft.com/office/drawing/2014/main" id="{23A15D11-6612-9B85-CC0F-D85E5201B5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73490" y="4969233"/>
            <a:ext cx="1725633" cy="1725633"/>
          </a:xfrm>
          <a:prstGeom prst="rect">
            <a:avLst/>
          </a:prstGeom>
        </p:spPr>
      </p:pic>
    </p:spTree>
    <p:extLst>
      <p:ext uri="{BB962C8B-B14F-4D97-AF65-F5344CB8AC3E}">
        <p14:creationId xmlns:p14="http://schemas.microsoft.com/office/powerpoint/2010/main" val="62831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9FFBC41A-498D-EB86-D76D-7712E214D6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363861-B623-50F5-1913-DEC04C5E9660}"/>
              </a:ext>
            </a:extLst>
          </p:cNvPr>
          <p:cNvSpPr txBox="1">
            <a:spLocks noGrp="1"/>
          </p:cNvSpPr>
          <p:nvPr>
            <p:ph type="title" idx="4294967295"/>
          </p:nvPr>
        </p:nvSpPr>
        <p:spPr>
          <a:xfrm>
            <a:off x="177519" y="132080"/>
            <a:ext cx="554503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Windows keyboard</a:t>
            </a:r>
          </a:p>
        </p:txBody>
      </p:sp>
      <p:grpSp>
        <p:nvGrpSpPr>
          <p:cNvPr id="4" name="Group 3" descr="A black Windows keyboard without full number keypad. Some keys are highlighted to show how to navigate with keyboard. These are:&#10;Escape - Close/cancel dialog&#10;Tab - Go to next focusable item&#10;Enter - Submit a form/click link/press button/ confirm&#10;Spacebar - Open a list/check a checkbox&#10;Arrow keys - scroll page/move between list items">
            <a:extLst>
              <a:ext uri="{FF2B5EF4-FFF2-40B4-BE49-F238E27FC236}">
                <a16:creationId xmlns:a16="http://schemas.microsoft.com/office/drawing/2014/main" id="{39E1E8BA-F27B-841F-07A7-7AB0F253681B}"/>
              </a:ext>
            </a:extLst>
          </p:cNvPr>
          <p:cNvGrpSpPr/>
          <p:nvPr/>
        </p:nvGrpSpPr>
        <p:grpSpPr>
          <a:xfrm>
            <a:off x="499535" y="798570"/>
            <a:ext cx="10991318" cy="5260860"/>
            <a:chOff x="117810" y="939448"/>
            <a:chExt cx="11985506" cy="6208891"/>
          </a:xfrm>
        </p:grpSpPr>
        <p:pic>
          <p:nvPicPr>
            <p:cNvPr id="5" name="Picture 4">
              <a:extLst>
                <a:ext uri="{FF2B5EF4-FFF2-40B4-BE49-F238E27FC236}">
                  <a16:creationId xmlns:a16="http://schemas.microsoft.com/office/drawing/2014/main" id="{DFC22B29-3AFC-F36F-6410-C82416CD0023}"/>
                </a:ext>
                <a:ext uri="{C183D7F6-B498-43B3-948B-1728B52AA6E4}">
                  <adec:decorative xmlns:adec="http://schemas.microsoft.com/office/drawing/2017/decorative" val="0"/>
                </a:ext>
              </a:extLst>
            </p:cNvPr>
            <p:cNvPicPr>
              <a:picLocks noChangeAspect="1"/>
            </p:cNvPicPr>
            <p:nvPr/>
          </p:nvPicPr>
          <p:blipFill>
            <a:blip r:embed="rId3"/>
            <a:srcRect r="1801" b="7299"/>
            <a:stretch>
              <a:fillRect/>
            </a:stretch>
          </p:blipFill>
          <p:spPr>
            <a:xfrm>
              <a:off x="117810" y="1327823"/>
              <a:ext cx="11985506" cy="5020765"/>
            </a:xfrm>
            <a:prstGeom prst="rect">
              <a:avLst/>
            </a:prstGeom>
            <a:solidFill>
              <a:schemeClr val="tx1">
                <a:lumMod val="40000"/>
                <a:lumOff val="60000"/>
              </a:schemeClr>
            </a:solidFill>
          </p:spPr>
        </p:pic>
        <p:sp>
          <p:nvSpPr>
            <p:cNvPr id="6" name="Frame 5">
              <a:extLst>
                <a:ext uri="{FF2B5EF4-FFF2-40B4-BE49-F238E27FC236}">
                  <a16:creationId xmlns:a16="http://schemas.microsoft.com/office/drawing/2014/main" id="{8A224FD4-B1F1-DA91-2362-EF5366705D50}"/>
                </a:ext>
                <a:ext uri="{C183D7F6-B498-43B3-948B-1728B52AA6E4}">
                  <adec:decorative xmlns:adec="http://schemas.microsoft.com/office/drawing/2017/decorative" val="1"/>
                </a:ext>
              </a:extLst>
            </p:cNvPr>
            <p:cNvSpPr/>
            <p:nvPr/>
          </p:nvSpPr>
          <p:spPr>
            <a:xfrm>
              <a:off x="212460" y="1406905"/>
              <a:ext cx="1021704" cy="702977"/>
            </a:xfrm>
            <a:prstGeom prst="frame">
              <a:avLst/>
            </a:prstGeom>
            <a:solidFill>
              <a:srgbClr val="92D050"/>
            </a:solidFill>
            <a:ln w="12700" cap="flat" cmpd="sng" algn="ctr">
              <a:no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7" name="Rectangular Callout 12">
              <a:extLst>
                <a:ext uri="{FF2B5EF4-FFF2-40B4-BE49-F238E27FC236}">
                  <a16:creationId xmlns:a16="http://schemas.microsoft.com/office/drawing/2014/main" id="{F3A5A5FC-2CFF-4E1A-6E03-A36B29E09AEC}"/>
                </a:ext>
              </a:extLst>
            </p:cNvPr>
            <p:cNvSpPr/>
            <p:nvPr/>
          </p:nvSpPr>
          <p:spPr>
            <a:xfrm>
              <a:off x="909934" y="939448"/>
              <a:ext cx="2344615" cy="612648"/>
            </a:xfrm>
            <a:prstGeom prst="wedgeRectCallout">
              <a:avLst/>
            </a:prstGeom>
            <a:solidFill>
              <a:srgbClr val="FF9100"/>
            </a:solidFill>
            <a:ln w="12700" cap="flat" cmpd="sng" algn="ctr">
              <a:noFill/>
              <a:prstDash val="solid"/>
              <a:miter lim="800000"/>
            </a:ln>
            <a:effectLst/>
          </p:spPr>
          <p:txBody>
            <a:bodyPr rtlCol="0" anchor="ctr"/>
            <a:lstStyle/>
            <a:p>
              <a:pPr algn="ctr" defTabSz="1219170">
                <a:buClrTx/>
                <a:defRPr/>
              </a:pPr>
              <a:r>
                <a:rPr lang="en-US" sz="1600" b="1" dirty="0">
                  <a:solidFill>
                    <a:schemeClr val="tx1"/>
                  </a:solidFill>
                  <a:latin typeface="+mn-lt"/>
                  <a:ea typeface="+mn-ea"/>
                  <a:cs typeface="+mn-cs"/>
                </a:rPr>
                <a:t>Close/cancel dialog</a:t>
              </a:r>
            </a:p>
          </p:txBody>
        </p:sp>
        <p:sp>
          <p:nvSpPr>
            <p:cNvPr id="8" name="Frame 7">
              <a:extLst>
                <a:ext uri="{FF2B5EF4-FFF2-40B4-BE49-F238E27FC236}">
                  <a16:creationId xmlns:a16="http://schemas.microsoft.com/office/drawing/2014/main" id="{3B00CD35-BDF4-DFB5-E662-0983742CB026}"/>
                </a:ext>
                <a:ext uri="{C183D7F6-B498-43B3-948B-1728B52AA6E4}">
                  <adec:decorative xmlns:adec="http://schemas.microsoft.com/office/drawing/2017/decorative" val="1"/>
                </a:ext>
              </a:extLst>
            </p:cNvPr>
            <p:cNvSpPr/>
            <p:nvPr/>
          </p:nvSpPr>
          <p:spPr>
            <a:xfrm>
              <a:off x="212460" y="2865070"/>
              <a:ext cx="1116355" cy="846982"/>
            </a:xfrm>
            <a:prstGeom prst="frame">
              <a:avLst/>
            </a:prstGeom>
            <a:solidFill>
              <a:srgbClr val="92D050"/>
            </a:solidFill>
            <a:ln w="12700" cap="flat" cmpd="sng" algn="ctr">
              <a:no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9" name="Rectangular Callout 13">
              <a:extLst>
                <a:ext uri="{FF2B5EF4-FFF2-40B4-BE49-F238E27FC236}">
                  <a16:creationId xmlns:a16="http://schemas.microsoft.com/office/drawing/2014/main" id="{E356E479-C6FF-010A-B7CA-256640DD22E3}"/>
                </a:ext>
              </a:extLst>
            </p:cNvPr>
            <p:cNvSpPr/>
            <p:nvPr/>
          </p:nvSpPr>
          <p:spPr>
            <a:xfrm>
              <a:off x="1740016" y="2252422"/>
              <a:ext cx="1324707" cy="1377462"/>
            </a:xfrm>
            <a:prstGeom prst="wedgeRectCallout">
              <a:avLst>
                <a:gd name="adj1" fmla="val -79807"/>
                <a:gd name="adj2" fmla="val 39538"/>
              </a:avLst>
            </a:prstGeom>
            <a:solidFill>
              <a:srgbClr val="FF9100"/>
            </a:solidFill>
            <a:ln w="12700" cap="flat" cmpd="sng" algn="ctr">
              <a:noFill/>
              <a:prstDash val="solid"/>
              <a:miter lim="800000"/>
            </a:ln>
            <a:effectLst/>
          </p:spPr>
          <p:txBody>
            <a:bodyPr rtlCol="0" anchor="ctr"/>
            <a:lstStyle/>
            <a:p>
              <a:pPr algn="ctr" defTabSz="1219170">
                <a:buClrTx/>
                <a:defRPr/>
              </a:pPr>
              <a:r>
                <a:rPr lang="en-US" sz="1600" b="1" dirty="0">
                  <a:solidFill>
                    <a:schemeClr val="tx1"/>
                  </a:solidFill>
                  <a:latin typeface="+mn-lt"/>
                  <a:ea typeface="+mn-ea"/>
                  <a:cs typeface="+mn-cs"/>
                </a:rPr>
                <a:t>Go to next focusable element</a:t>
              </a:r>
            </a:p>
          </p:txBody>
        </p:sp>
        <p:sp>
          <p:nvSpPr>
            <p:cNvPr id="10" name="Frame 9">
              <a:extLst>
                <a:ext uri="{FF2B5EF4-FFF2-40B4-BE49-F238E27FC236}">
                  <a16:creationId xmlns:a16="http://schemas.microsoft.com/office/drawing/2014/main" id="{B1E6D9C5-FBE7-E1A6-E5BF-0ABE290EEA59}"/>
                </a:ext>
                <a:ext uri="{C183D7F6-B498-43B3-948B-1728B52AA6E4}">
                  <adec:decorative xmlns:adec="http://schemas.microsoft.com/office/drawing/2017/decorative" val="1"/>
                </a:ext>
              </a:extLst>
            </p:cNvPr>
            <p:cNvSpPr/>
            <p:nvPr/>
          </p:nvSpPr>
          <p:spPr>
            <a:xfrm>
              <a:off x="3770365" y="5448495"/>
              <a:ext cx="4215996" cy="770066"/>
            </a:xfrm>
            <a:prstGeom prst="frame">
              <a:avLst/>
            </a:prstGeom>
            <a:solidFill>
              <a:srgbClr val="92D050"/>
            </a:solidFill>
            <a:ln w="12700" cap="flat" cmpd="sng" algn="ctr">
              <a:no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11" name="Rectangular Callout 14">
              <a:extLst>
                <a:ext uri="{FF2B5EF4-FFF2-40B4-BE49-F238E27FC236}">
                  <a16:creationId xmlns:a16="http://schemas.microsoft.com/office/drawing/2014/main" id="{C6FCADAA-0B41-9412-4551-70C9CA7EA888}"/>
                </a:ext>
              </a:extLst>
            </p:cNvPr>
            <p:cNvSpPr/>
            <p:nvPr/>
          </p:nvSpPr>
          <p:spPr>
            <a:xfrm>
              <a:off x="4414020" y="4626453"/>
              <a:ext cx="3318624" cy="689667"/>
            </a:xfrm>
            <a:prstGeom prst="wedgeRectCallout">
              <a:avLst/>
            </a:prstGeom>
            <a:solidFill>
              <a:srgbClr val="FF9100"/>
            </a:solidFill>
            <a:ln w="12700" cap="flat" cmpd="sng" algn="ctr">
              <a:noFill/>
              <a:prstDash val="solid"/>
              <a:miter lim="800000"/>
            </a:ln>
            <a:effectLst/>
          </p:spPr>
          <p:txBody>
            <a:bodyPr rtlCol="0" anchor="ctr"/>
            <a:lstStyle/>
            <a:p>
              <a:pPr algn="ctr" defTabSz="1219170">
                <a:buClrTx/>
                <a:defRPr/>
              </a:pPr>
              <a:r>
                <a:rPr lang="en-US" sz="1600" b="1" dirty="0">
                  <a:solidFill>
                    <a:schemeClr val="tx1"/>
                  </a:solidFill>
                  <a:latin typeface="+mn-lt"/>
                  <a:ea typeface="+mn-ea"/>
                  <a:cs typeface="+mn-cs"/>
                </a:rPr>
                <a:t>Open a list/check a checkbox</a:t>
              </a:r>
            </a:p>
          </p:txBody>
        </p:sp>
        <p:sp>
          <p:nvSpPr>
            <p:cNvPr id="12" name="Frame 11">
              <a:extLst>
                <a:ext uri="{FF2B5EF4-FFF2-40B4-BE49-F238E27FC236}">
                  <a16:creationId xmlns:a16="http://schemas.microsoft.com/office/drawing/2014/main" id="{B309A39D-6102-18DC-8405-B814AC6BF21C}"/>
                </a:ext>
                <a:ext uri="{C183D7F6-B498-43B3-948B-1728B52AA6E4}">
                  <adec:decorative xmlns:adec="http://schemas.microsoft.com/office/drawing/2017/decorative" val="1"/>
                </a:ext>
              </a:extLst>
            </p:cNvPr>
            <p:cNvSpPr/>
            <p:nvPr/>
          </p:nvSpPr>
          <p:spPr>
            <a:xfrm>
              <a:off x="10176057" y="3712052"/>
              <a:ext cx="1819911" cy="914400"/>
            </a:xfrm>
            <a:prstGeom prst="frame">
              <a:avLst/>
            </a:prstGeom>
            <a:solidFill>
              <a:srgbClr val="92D050"/>
            </a:solidFill>
            <a:ln w="12700" cap="flat" cmpd="sng" algn="ctr">
              <a:no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13" name="Rectangular Callout 17">
              <a:extLst>
                <a:ext uri="{FF2B5EF4-FFF2-40B4-BE49-F238E27FC236}">
                  <a16:creationId xmlns:a16="http://schemas.microsoft.com/office/drawing/2014/main" id="{036F41AD-C5DB-672C-EB5D-ED186CF42631}"/>
                </a:ext>
              </a:extLst>
            </p:cNvPr>
            <p:cNvSpPr/>
            <p:nvPr/>
          </p:nvSpPr>
          <p:spPr>
            <a:xfrm>
              <a:off x="8171411" y="2252422"/>
              <a:ext cx="2004646" cy="1527048"/>
            </a:xfrm>
            <a:prstGeom prst="wedgeRectCallout">
              <a:avLst>
                <a:gd name="adj1" fmla="val 45834"/>
                <a:gd name="adj2" fmla="val 87376"/>
              </a:avLst>
            </a:prstGeom>
            <a:solidFill>
              <a:srgbClr val="FF9100"/>
            </a:solidFill>
            <a:ln w="12700" cap="flat" cmpd="sng" algn="ctr">
              <a:noFill/>
              <a:prstDash val="solid"/>
              <a:miter lim="800000"/>
            </a:ln>
            <a:effectLst/>
          </p:spPr>
          <p:txBody>
            <a:bodyPr rtlCol="0" anchor="ctr"/>
            <a:lstStyle/>
            <a:p>
              <a:pPr algn="ctr" defTabSz="1219170">
                <a:buClrTx/>
                <a:defRPr/>
              </a:pPr>
              <a:r>
                <a:rPr lang="en-US" sz="1600" b="1" dirty="0">
                  <a:solidFill>
                    <a:schemeClr val="tx1"/>
                  </a:solidFill>
                  <a:latin typeface="+mn-lt"/>
                  <a:ea typeface="+mn-ea"/>
                  <a:cs typeface="+mn-cs"/>
                </a:rPr>
                <a:t>Submit form/click link/press button/ confirm</a:t>
              </a:r>
            </a:p>
          </p:txBody>
        </p:sp>
        <p:sp>
          <p:nvSpPr>
            <p:cNvPr id="14" name="Frame 13">
              <a:extLst>
                <a:ext uri="{FF2B5EF4-FFF2-40B4-BE49-F238E27FC236}">
                  <a16:creationId xmlns:a16="http://schemas.microsoft.com/office/drawing/2014/main" id="{061C89AB-70ED-3899-22F0-8CE511A2911E}"/>
                </a:ext>
                <a:ext uri="{C183D7F6-B498-43B3-948B-1728B52AA6E4}">
                  <adec:decorative xmlns:adec="http://schemas.microsoft.com/office/drawing/2017/decorative" val="1"/>
                </a:ext>
              </a:extLst>
            </p:cNvPr>
            <p:cNvSpPr/>
            <p:nvPr/>
          </p:nvSpPr>
          <p:spPr>
            <a:xfrm>
              <a:off x="9403763" y="5316120"/>
              <a:ext cx="2699552" cy="1071475"/>
            </a:xfrm>
            <a:prstGeom prst="frame">
              <a:avLst/>
            </a:prstGeom>
            <a:solidFill>
              <a:srgbClr val="92D050"/>
            </a:solidFill>
            <a:ln w="12700" cap="flat" cmpd="sng" algn="ctr">
              <a:no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15" name="Rectangular Callout 15">
              <a:extLst>
                <a:ext uri="{FF2B5EF4-FFF2-40B4-BE49-F238E27FC236}">
                  <a16:creationId xmlns:a16="http://schemas.microsoft.com/office/drawing/2014/main" id="{254AD791-952F-609A-02C2-B6EC816B629C}"/>
                </a:ext>
              </a:extLst>
            </p:cNvPr>
            <p:cNvSpPr/>
            <p:nvPr/>
          </p:nvSpPr>
          <p:spPr>
            <a:xfrm>
              <a:off x="9256764" y="6535691"/>
              <a:ext cx="2543908" cy="612648"/>
            </a:xfrm>
            <a:prstGeom prst="wedgeRectCallout">
              <a:avLst>
                <a:gd name="adj1" fmla="val -22115"/>
                <a:gd name="adj2" fmla="val -71446"/>
              </a:avLst>
            </a:prstGeom>
            <a:solidFill>
              <a:srgbClr val="FF9100"/>
            </a:solidFill>
            <a:ln w="12700" cap="flat" cmpd="sng" algn="ctr">
              <a:noFill/>
              <a:prstDash val="solid"/>
              <a:miter lim="800000"/>
            </a:ln>
            <a:effectLst/>
          </p:spPr>
          <p:txBody>
            <a:bodyPr rtlCol="0" anchor="ctr"/>
            <a:lstStyle/>
            <a:p>
              <a:pPr algn="ctr" defTabSz="1219170">
                <a:buClrTx/>
                <a:defRPr/>
              </a:pPr>
              <a:r>
                <a:rPr lang="en-US" sz="1600" b="1" dirty="0">
                  <a:solidFill>
                    <a:schemeClr val="tx1"/>
                  </a:solidFill>
                  <a:latin typeface="+mn-lt"/>
                  <a:ea typeface="+mn-ea"/>
                  <a:cs typeface="+mn-cs"/>
                </a:rPr>
                <a:t>Scroll page / move between list items</a:t>
              </a:r>
            </a:p>
          </p:txBody>
        </p:sp>
      </p:grpSp>
    </p:spTree>
    <p:extLst>
      <p:ext uri="{BB962C8B-B14F-4D97-AF65-F5344CB8AC3E}">
        <p14:creationId xmlns:p14="http://schemas.microsoft.com/office/powerpoint/2010/main" val="3980904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AC50744C-263E-A6E7-B18B-1855037564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59A815-7230-9F08-2A7B-86FBE8A8ED35}"/>
              </a:ext>
            </a:extLst>
          </p:cNvPr>
          <p:cNvSpPr txBox="1">
            <a:spLocks noGrp="1"/>
          </p:cNvSpPr>
          <p:nvPr>
            <p:ph type="title" idx="4294967295"/>
          </p:nvPr>
        </p:nvSpPr>
        <p:spPr>
          <a:xfrm>
            <a:off x="177519" y="132080"/>
            <a:ext cx="554503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Apple keyboard</a:t>
            </a:r>
          </a:p>
        </p:txBody>
      </p:sp>
      <p:grpSp>
        <p:nvGrpSpPr>
          <p:cNvPr id="4" name="Group 3" descr="A black Mac keyboard without full number keypad. Some keys are highlighted to show how to navigate with keyboard. These are:&#10;Escape - Close/cancel dialog&#10;Tab - Go to next focusable item&#10;Enter - Submit a form/click link/press button/ confirm&#10;Spacebar - Open a list/check a checkbox&#10;Arrow keys - scroll page/move between list items">
            <a:extLst>
              <a:ext uri="{FF2B5EF4-FFF2-40B4-BE49-F238E27FC236}">
                <a16:creationId xmlns:a16="http://schemas.microsoft.com/office/drawing/2014/main" id="{660F06F7-3908-CC4E-0DD8-F62B2EF7C101}"/>
              </a:ext>
            </a:extLst>
          </p:cNvPr>
          <p:cNvGrpSpPr/>
          <p:nvPr/>
        </p:nvGrpSpPr>
        <p:grpSpPr>
          <a:xfrm>
            <a:off x="499533" y="798570"/>
            <a:ext cx="11192933" cy="5260860"/>
            <a:chOff x="117809" y="939448"/>
            <a:chExt cx="12205357" cy="6208891"/>
          </a:xfrm>
        </p:grpSpPr>
        <p:pic>
          <p:nvPicPr>
            <p:cNvPr id="5" name="Picture 4" descr="keyboard diagram">
              <a:extLst>
                <a:ext uri="{FF2B5EF4-FFF2-40B4-BE49-F238E27FC236}">
                  <a16:creationId xmlns:a16="http://schemas.microsoft.com/office/drawing/2014/main" id="{00ACAD7C-7F11-9D91-666C-F5B926CA9D81}"/>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809" y="1280940"/>
              <a:ext cx="12205357" cy="5509847"/>
            </a:xfrm>
            <a:prstGeom prst="rect">
              <a:avLst/>
            </a:prstGeom>
          </p:spPr>
        </p:pic>
        <p:sp>
          <p:nvSpPr>
            <p:cNvPr id="6" name="Frame 5">
              <a:extLst>
                <a:ext uri="{FF2B5EF4-FFF2-40B4-BE49-F238E27FC236}">
                  <a16:creationId xmlns:a16="http://schemas.microsoft.com/office/drawing/2014/main" id="{5100DC34-87C1-8630-7550-0A0609575523}"/>
                </a:ext>
                <a:ext uri="{C183D7F6-B498-43B3-948B-1728B52AA6E4}">
                  <adec:decorative xmlns:adec="http://schemas.microsoft.com/office/drawing/2017/decorative" val="1"/>
                </a:ext>
              </a:extLst>
            </p:cNvPr>
            <p:cNvSpPr/>
            <p:nvPr/>
          </p:nvSpPr>
          <p:spPr>
            <a:xfrm>
              <a:off x="405840" y="1673664"/>
              <a:ext cx="1324707" cy="803031"/>
            </a:xfrm>
            <a:prstGeom prst="frame">
              <a:avLst/>
            </a:prstGeom>
            <a:solidFill>
              <a:srgbClr val="00B050"/>
            </a:solidFill>
            <a:ln w="12700" cap="flat" cmpd="sng" algn="ctr">
              <a:solidFill>
                <a:srgbClr val="8F23B3">
                  <a:shade val="50000"/>
                </a:srgbClr>
              </a:solid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7" name="Rectangular Callout 12">
              <a:extLst>
                <a:ext uri="{FF2B5EF4-FFF2-40B4-BE49-F238E27FC236}">
                  <a16:creationId xmlns:a16="http://schemas.microsoft.com/office/drawing/2014/main" id="{FEA6E63F-1C8B-04A4-959C-C10B95CAECB9}"/>
                </a:ext>
              </a:extLst>
            </p:cNvPr>
            <p:cNvSpPr/>
            <p:nvPr/>
          </p:nvSpPr>
          <p:spPr>
            <a:xfrm>
              <a:off x="909934" y="939448"/>
              <a:ext cx="2344615" cy="612648"/>
            </a:xfrm>
            <a:prstGeom prst="wedgeRectCallout">
              <a:avLst/>
            </a:prstGeom>
            <a:solidFill>
              <a:srgbClr val="FF9100"/>
            </a:solidFill>
            <a:ln w="12700" cap="flat" cmpd="sng" algn="ctr">
              <a:solidFill>
                <a:srgbClr val="8F23B3">
                  <a:shade val="50000"/>
                </a:srgbClr>
              </a:solidFill>
              <a:prstDash val="solid"/>
              <a:miter lim="800000"/>
            </a:ln>
            <a:effectLst/>
          </p:spPr>
          <p:txBody>
            <a:bodyPr rtlCol="0" anchor="ctr"/>
            <a:lstStyle/>
            <a:p>
              <a:pPr algn="ctr" defTabSz="1219170">
                <a:buClrTx/>
                <a:defRPr/>
              </a:pPr>
              <a:r>
                <a:rPr lang="en-US" sz="1600" b="1" dirty="0">
                  <a:latin typeface="+mn-lt"/>
                  <a:ea typeface="+mn-ea"/>
                  <a:cs typeface="+mn-cs"/>
                </a:rPr>
                <a:t>Close/cancel dialog</a:t>
              </a:r>
            </a:p>
          </p:txBody>
        </p:sp>
        <p:sp>
          <p:nvSpPr>
            <p:cNvPr id="8" name="Frame 7">
              <a:extLst>
                <a:ext uri="{FF2B5EF4-FFF2-40B4-BE49-F238E27FC236}">
                  <a16:creationId xmlns:a16="http://schemas.microsoft.com/office/drawing/2014/main" id="{924C63C6-6837-7D1D-3204-D00F6E5451AF}"/>
                </a:ext>
                <a:ext uri="{C183D7F6-B498-43B3-948B-1728B52AA6E4}">
                  <adec:decorative xmlns:adec="http://schemas.microsoft.com/office/drawing/2017/decorative" val="1"/>
                </a:ext>
              </a:extLst>
            </p:cNvPr>
            <p:cNvSpPr/>
            <p:nvPr/>
          </p:nvSpPr>
          <p:spPr>
            <a:xfrm>
              <a:off x="441011" y="3174219"/>
              <a:ext cx="1324707" cy="914400"/>
            </a:xfrm>
            <a:prstGeom prst="frame">
              <a:avLst/>
            </a:prstGeom>
            <a:solidFill>
              <a:srgbClr val="00B050"/>
            </a:solidFill>
            <a:ln w="12700" cap="flat" cmpd="sng" algn="ctr">
              <a:solidFill>
                <a:srgbClr val="8F23B3">
                  <a:shade val="50000"/>
                </a:srgbClr>
              </a:solid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9" name="Rectangular Callout 13">
              <a:extLst>
                <a:ext uri="{FF2B5EF4-FFF2-40B4-BE49-F238E27FC236}">
                  <a16:creationId xmlns:a16="http://schemas.microsoft.com/office/drawing/2014/main" id="{2E5DA0DD-F1A9-7569-B7F9-D0D5C00A0A87}"/>
                </a:ext>
              </a:extLst>
            </p:cNvPr>
            <p:cNvSpPr/>
            <p:nvPr/>
          </p:nvSpPr>
          <p:spPr>
            <a:xfrm>
              <a:off x="2135813" y="2558756"/>
              <a:ext cx="1324707" cy="1377462"/>
            </a:xfrm>
            <a:prstGeom prst="wedgeRectCallout">
              <a:avLst>
                <a:gd name="adj1" fmla="val -79807"/>
                <a:gd name="adj2" fmla="val 39538"/>
              </a:avLst>
            </a:prstGeom>
            <a:solidFill>
              <a:srgbClr val="FF9100"/>
            </a:solidFill>
            <a:ln w="12700" cap="flat" cmpd="sng" algn="ctr">
              <a:solidFill>
                <a:srgbClr val="8F23B3">
                  <a:shade val="50000"/>
                </a:srgbClr>
              </a:solidFill>
              <a:prstDash val="solid"/>
              <a:miter lim="800000"/>
            </a:ln>
            <a:effectLst/>
          </p:spPr>
          <p:txBody>
            <a:bodyPr rtlCol="0" anchor="ctr"/>
            <a:lstStyle/>
            <a:p>
              <a:pPr algn="ctr" defTabSz="1219170">
                <a:buClrTx/>
                <a:defRPr/>
              </a:pPr>
              <a:r>
                <a:rPr lang="en-US" sz="1600" b="1" dirty="0">
                  <a:latin typeface="+mn-lt"/>
                  <a:ea typeface="+mn-ea"/>
                  <a:cs typeface="+mn-cs"/>
                </a:rPr>
                <a:t>Go to next focusable element</a:t>
              </a:r>
            </a:p>
          </p:txBody>
        </p:sp>
        <p:sp>
          <p:nvSpPr>
            <p:cNvPr id="10" name="Frame 9">
              <a:extLst>
                <a:ext uri="{FF2B5EF4-FFF2-40B4-BE49-F238E27FC236}">
                  <a16:creationId xmlns:a16="http://schemas.microsoft.com/office/drawing/2014/main" id="{077152D9-4608-D035-CAA6-09D9B794299F}"/>
                </a:ext>
                <a:ext uri="{C183D7F6-B498-43B3-948B-1728B52AA6E4}">
                  <adec:decorative xmlns:adec="http://schemas.microsoft.com/office/drawing/2017/decorative" val="1"/>
                </a:ext>
              </a:extLst>
            </p:cNvPr>
            <p:cNvSpPr/>
            <p:nvPr/>
          </p:nvSpPr>
          <p:spPr>
            <a:xfrm>
              <a:off x="3770365" y="5448495"/>
              <a:ext cx="4067908" cy="914400"/>
            </a:xfrm>
            <a:prstGeom prst="frame">
              <a:avLst/>
            </a:prstGeom>
            <a:solidFill>
              <a:srgbClr val="00B050"/>
            </a:solidFill>
            <a:ln w="12700" cap="flat" cmpd="sng" algn="ctr">
              <a:solidFill>
                <a:srgbClr val="8F23B3">
                  <a:shade val="50000"/>
                </a:srgbClr>
              </a:solid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11" name="Rectangular Callout 14">
              <a:extLst>
                <a:ext uri="{FF2B5EF4-FFF2-40B4-BE49-F238E27FC236}">
                  <a16:creationId xmlns:a16="http://schemas.microsoft.com/office/drawing/2014/main" id="{F8C1A97C-D613-B7F5-2822-21C1D348CB5C}"/>
                </a:ext>
              </a:extLst>
            </p:cNvPr>
            <p:cNvSpPr/>
            <p:nvPr/>
          </p:nvSpPr>
          <p:spPr>
            <a:xfrm>
              <a:off x="5411595" y="4626453"/>
              <a:ext cx="2219561" cy="602888"/>
            </a:xfrm>
            <a:prstGeom prst="wedgeRectCallout">
              <a:avLst/>
            </a:prstGeom>
            <a:solidFill>
              <a:srgbClr val="FF9100"/>
            </a:solidFill>
            <a:ln w="12700" cap="flat" cmpd="sng" algn="ctr">
              <a:solidFill>
                <a:srgbClr val="8F23B3">
                  <a:shade val="50000"/>
                </a:srgbClr>
              </a:solidFill>
              <a:prstDash val="solid"/>
              <a:miter lim="800000"/>
            </a:ln>
            <a:effectLst/>
          </p:spPr>
          <p:txBody>
            <a:bodyPr rtlCol="0" anchor="ctr"/>
            <a:lstStyle/>
            <a:p>
              <a:pPr algn="ctr" defTabSz="1219170">
                <a:buClrTx/>
                <a:defRPr/>
              </a:pPr>
              <a:r>
                <a:rPr lang="en-US" sz="1600" b="1" dirty="0">
                  <a:latin typeface="+mn-lt"/>
                  <a:ea typeface="+mn-ea"/>
                  <a:cs typeface="+mn-cs"/>
                </a:rPr>
                <a:t>Open a list/check a checkbox</a:t>
              </a:r>
            </a:p>
          </p:txBody>
        </p:sp>
        <p:sp>
          <p:nvSpPr>
            <p:cNvPr id="12" name="Frame 11">
              <a:extLst>
                <a:ext uri="{FF2B5EF4-FFF2-40B4-BE49-F238E27FC236}">
                  <a16:creationId xmlns:a16="http://schemas.microsoft.com/office/drawing/2014/main" id="{E78ABF5E-D5E3-264D-0C18-E26ADACE7C38}"/>
                </a:ext>
                <a:ext uri="{C183D7F6-B498-43B3-948B-1728B52AA6E4}">
                  <adec:decorative xmlns:adec="http://schemas.microsoft.com/office/drawing/2017/decorative" val="1"/>
                </a:ext>
              </a:extLst>
            </p:cNvPr>
            <p:cNvSpPr/>
            <p:nvPr/>
          </p:nvSpPr>
          <p:spPr>
            <a:xfrm>
              <a:off x="10440795" y="3936219"/>
              <a:ext cx="1524001" cy="914400"/>
            </a:xfrm>
            <a:prstGeom prst="frame">
              <a:avLst/>
            </a:prstGeom>
            <a:solidFill>
              <a:srgbClr val="00B050"/>
            </a:solidFill>
            <a:ln w="12700" cap="flat" cmpd="sng" algn="ctr">
              <a:solidFill>
                <a:srgbClr val="8F23B3">
                  <a:shade val="50000"/>
                </a:srgbClr>
              </a:solid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13" name="Rectangular Callout 17">
              <a:extLst>
                <a:ext uri="{FF2B5EF4-FFF2-40B4-BE49-F238E27FC236}">
                  <a16:creationId xmlns:a16="http://schemas.microsoft.com/office/drawing/2014/main" id="{22F81584-BEEC-9D65-40A4-439E1F5D1C28}"/>
                </a:ext>
              </a:extLst>
            </p:cNvPr>
            <p:cNvSpPr/>
            <p:nvPr/>
          </p:nvSpPr>
          <p:spPr>
            <a:xfrm>
              <a:off x="8354087" y="2259819"/>
              <a:ext cx="2004647" cy="1527048"/>
            </a:xfrm>
            <a:prstGeom prst="wedgeRectCallout">
              <a:avLst>
                <a:gd name="adj1" fmla="val 45834"/>
                <a:gd name="adj2" fmla="val 87376"/>
              </a:avLst>
            </a:prstGeom>
            <a:solidFill>
              <a:srgbClr val="FF9100"/>
            </a:solidFill>
            <a:ln w="12700" cap="flat" cmpd="sng" algn="ctr">
              <a:solidFill>
                <a:srgbClr val="8F23B3">
                  <a:shade val="50000"/>
                </a:srgbClr>
              </a:solidFill>
              <a:prstDash val="solid"/>
              <a:miter lim="800000"/>
            </a:ln>
            <a:effectLst/>
          </p:spPr>
          <p:txBody>
            <a:bodyPr rtlCol="0" anchor="ctr"/>
            <a:lstStyle/>
            <a:p>
              <a:pPr algn="ctr" defTabSz="1219170">
                <a:buClrTx/>
                <a:defRPr/>
              </a:pPr>
              <a:r>
                <a:rPr lang="en-US" sz="1600" b="1" dirty="0">
                  <a:latin typeface="+mn-lt"/>
                  <a:ea typeface="+mn-ea"/>
                  <a:cs typeface="+mn-cs"/>
                </a:rPr>
                <a:t>Submit form/click link/press button/ confirm</a:t>
              </a:r>
            </a:p>
          </p:txBody>
        </p:sp>
        <p:sp>
          <p:nvSpPr>
            <p:cNvPr id="14" name="Frame 13">
              <a:extLst>
                <a:ext uri="{FF2B5EF4-FFF2-40B4-BE49-F238E27FC236}">
                  <a16:creationId xmlns:a16="http://schemas.microsoft.com/office/drawing/2014/main" id="{06269DE4-3FE8-6580-C426-885B22F39967}"/>
                </a:ext>
                <a:ext uri="{C183D7F6-B498-43B3-948B-1728B52AA6E4}">
                  <adec:decorative xmlns:adec="http://schemas.microsoft.com/office/drawing/2017/decorative" val="1"/>
                </a:ext>
              </a:extLst>
            </p:cNvPr>
            <p:cNvSpPr/>
            <p:nvPr/>
          </p:nvSpPr>
          <p:spPr>
            <a:xfrm>
              <a:off x="9420888" y="5448495"/>
              <a:ext cx="2543908" cy="914400"/>
            </a:xfrm>
            <a:prstGeom prst="frame">
              <a:avLst/>
            </a:prstGeom>
            <a:solidFill>
              <a:srgbClr val="00B050"/>
            </a:solidFill>
            <a:ln w="12700" cap="flat" cmpd="sng" algn="ctr">
              <a:solidFill>
                <a:srgbClr val="8F23B3">
                  <a:shade val="50000"/>
                </a:srgbClr>
              </a:solidFill>
              <a:prstDash val="solid"/>
              <a:miter lim="800000"/>
            </a:ln>
            <a:effectLst/>
          </p:spPr>
          <p:txBody>
            <a:bodyPr rtlCol="0" anchor="ctr"/>
            <a:lstStyle/>
            <a:p>
              <a:pPr algn="ctr" defTabSz="1219170">
                <a:buClrTx/>
                <a:defRPr/>
              </a:pPr>
              <a:endParaRPr lang="en-US" sz="1600">
                <a:latin typeface="+mn-lt"/>
                <a:ea typeface="+mn-ea"/>
                <a:cs typeface="+mn-cs"/>
              </a:endParaRPr>
            </a:p>
          </p:txBody>
        </p:sp>
        <p:sp>
          <p:nvSpPr>
            <p:cNvPr id="15" name="Rectangular Callout 15">
              <a:extLst>
                <a:ext uri="{FF2B5EF4-FFF2-40B4-BE49-F238E27FC236}">
                  <a16:creationId xmlns:a16="http://schemas.microsoft.com/office/drawing/2014/main" id="{1A283B85-FBB5-5891-B433-52EF09B748E5}"/>
                </a:ext>
              </a:extLst>
            </p:cNvPr>
            <p:cNvSpPr/>
            <p:nvPr/>
          </p:nvSpPr>
          <p:spPr>
            <a:xfrm>
              <a:off x="9256764" y="6535691"/>
              <a:ext cx="2543908" cy="612648"/>
            </a:xfrm>
            <a:prstGeom prst="wedgeRectCallout">
              <a:avLst>
                <a:gd name="adj1" fmla="val -22115"/>
                <a:gd name="adj2" fmla="val -71446"/>
              </a:avLst>
            </a:prstGeom>
            <a:solidFill>
              <a:srgbClr val="FF9100"/>
            </a:solidFill>
            <a:ln w="12700" cap="flat" cmpd="sng" algn="ctr">
              <a:solidFill>
                <a:srgbClr val="8F23B3">
                  <a:shade val="50000"/>
                </a:srgbClr>
              </a:solidFill>
              <a:prstDash val="solid"/>
              <a:miter lim="800000"/>
            </a:ln>
            <a:effectLst/>
          </p:spPr>
          <p:txBody>
            <a:bodyPr rtlCol="0" anchor="ctr"/>
            <a:lstStyle/>
            <a:p>
              <a:pPr algn="ctr" defTabSz="1219170">
                <a:buClrTx/>
                <a:defRPr/>
              </a:pPr>
              <a:r>
                <a:rPr lang="en-US" sz="1600" b="1" dirty="0">
                  <a:latin typeface="+mn-lt"/>
                  <a:ea typeface="+mn-ea"/>
                  <a:cs typeface="+mn-cs"/>
                </a:rPr>
                <a:t>Scroll page / move between list items</a:t>
              </a:r>
            </a:p>
          </p:txBody>
        </p:sp>
      </p:grpSp>
    </p:spTree>
    <p:extLst>
      <p:ext uri="{BB962C8B-B14F-4D97-AF65-F5344CB8AC3E}">
        <p14:creationId xmlns:p14="http://schemas.microsoft.com/office/powerpoint/2010/main" val="312603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03A"/>
        </a:solidFill>
        <a:effectLst/>
      </p:bgPr>
    </p:bg>
    <p:spTree>
      <p:nvGrpSpPr>
        <p:cNvPr id="1" name="">
          <a:extLst>
            <a:ext uri="{FF2B5EF4-FFF2-40B4-BE49-F238E27FC236}">
              <a16:creationId xmlns:a16="http://schemas.microsoft.com/office/drawing/2014/main" id="{05E50B80-8C8F-3FB6-1000-FF3C524235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45F254-2E72-59D8-70C6-B2060A08A953}"/>
              </a:ext>
            </a:extLst>
          </p:cNvPr>
          <p:cNvSpPr txBox="1">
            <a:spLocks noGrp="1"/>
          </p:cNvSpPr>
          <p:nvPr>
            <p:ph type="title" idx="4294967295"/>
          </p:nvPr>
        </p:nvSpPr>
        <p:spPr>
          <a:xfrm>
            <a:off x="337602" y="356052"/>
            <a:ext cx="11025285" cy="5847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9100"/>
                </a:solidFill>
                <a:effectLst/>
                <a:uLnTx/>
                <a:uFillTx/>
                <a:latin typeface="Arial" panose="020B0604020202020204" pitchFamily="34" charset="0"/>
                <a:ea typeface="+mn-ea"/>
                <a:cs typeface="Arial" panose="020B0604020202020204" pitchFamily="34" charset="0"/>
              </a:rPr>
              <a:t>About this exercise</a:t>
            </a:r>
          </a:p>
        </p:txBody>
      </p:sp>
      <p:sp>
        <p:nvSpPr>
          <p:cNvPr id="3" name="Title 2">
            <a:extLst>
              <a:ext uri="{FF2B5EF4-FFF2-40B4-BE49-F238E27FC236}">
                <a16:creationId xmlns:a16="http://schemas.microsoft.com/office/drawing/2014/main" id="{8A9A9084-E46C-91E5-2865-FEDA452EE7D9}"/>
              </a:ext>
            </a:extLst>
          </p:cNvPr>
          <p:cNvSpPr>
            <a:spLocks/>
          </p:cNvSpPr>
          <p:nvPr/>
        </p:nvSpPr>
        <p:spPr>
          <a:xfrm>
            <a:off x="337602" y="540660"/>
            <a:ext cx="7925026" cy="5220607"/>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normAutofit fontScale="97500"/>
          </a:bodyPr>
          <a:lstStyle/>
          <a:p>
            <a:pPr marL="0" marR="0" lvl="0" indent="0" algn="l" defTabSz="914400" rtl="0" eaLnBrk="1" fontAlgn="auto" latinLnBrk="0" hangingPunct="1">
              <a:lnSpc>
                <a:spcPct val="96000"/>
              </a:lnSpc>
              <a:spcBef>
                <a:spcPts val="0"/>
              </a:spcBef>
              <a:spcAft>
                <a:spcPts val="0"/>
              </a:spcAft>
              <a:buClr>
                <a:schemeClr val="lt1"/>
              </a:buClr>
              <a:buSzPts val="3750"/>
              <a:buFont typeface="Arial"/>
              <a:buNone/>
              <a:tabLst/>
              <a:defRPr/>
            </a:pP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br>
              <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br>
            <a:endParaRPr kumimoji="0" lang="en-GB"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endParaRPr>
          </a:p>
        </p:txBody>
      </p:sp>
      <p:sp>
        <p:nvSpPr>
          <p:cNvPr id="6" name="TextBox 5">
            <a:extLst>
              <a:ext uri="{FF2B5EF4-FFF2-40B4-BE49-F238E27FC236}">
                <a16:creationId xmlns:a16="http://schemas.microsoft.com/office/drawing/2014/main" id="{CE9DCC85-93E6-7FA9-B25E-AFAD33F36E84}"/>
              </a:ext>
            </a:extLst>
          </p:cNvPr>
          <p:cNvSpPr txBox="1"/>
          <p:nvPr/>
        </p:nvSpPr>
        <p:spPr>
          <a:xfrm>
            <a:off x="337601" y="1296878"/>
            <a:ext cx="11656279" cy="4932119"/>
          </a:xfrm>
          <a:prstGeom prst="rect">
            <a:avLst/>
          </a:prstGeom>
          <a:noFill/>
        </p:spPr>
        <p:txBody>
          <a:bodyPr wrap="square">
            <a:spAutoFit/>
          </a:bodyPr>
          <a:lstStyle/>
          <a:p>
            <a:pPr marL="457200" indent="-457200" algn="l">
              <a:spcAft>
                <a:spcPts val="1500"/>
              </a:spcAft>
              <a:buFont typeface="Arial" panose="020B0604020202020204" pitchFamily="34" charset="0"/>
              <a:buChar char="•"/>
            </a:pPr>
            <a:r>
              <a:rPr lang="en-GB" sz="2800" b="0" i="0" dirty="0">
                <a:solidFill>
                  <a:schemeClr val="bg1"/>
                </a:solidFill>
                <a:effectLst/>
                <a:latin typeface="Arial" panose="020B0604020202020204" pitchFamily="34" charset="0"/>
              </a:rPr>
              <a:t>Accessibility training resource created by </a:t>
            </a:r>
            <a:r>
              <a:rPr lang="en-GB" sz="2800" b="0" i="0" dirty="0">
                <a:solidFill>
                  <a:srgbClr val="92D050"/>
                </a:solidFill>
                <a:effectLst/>
                <a:latin typeface="Arial" panose="020B0604020202020204" pitchFamily="34" charset="0"/>
                <a:hlinkClick r:id="rId3">
                  <a:extLst>
                    <a:ext uri="{A12FA001-AC4F-418D-AE19-62706E023703}">
                      <ahyp:hlinkClr xmlns:ahyp="http://schemas.microsoft.com/office/drawing/2018/hyperlinkcolor" val="tx"/>
                    </a:ext>
                  </a:extLst>
                </a:hlinkClick>
              </a:rPr>
              <a:t>Lori Thomson</a:t>
            </a:r>
            <a:r>
              <a:rPr lang="en-GB" sz="2800" b="0" i="0" dirty="0">
                <a:solidFill>
                  <a:schemeClr val="bg1"/>
                </a:solidFill>
                <a:effectLst/>
                <a:latin typeface="Arial" panose="020B0604020202020204" pitchFamily="34" charset="0"/>
              </a:rPr>
              <a:t>, inspired by </a:t>
            </a:r>
            <a:r>
              <a:rPr lang="en-GB" sz="2800" b="0" i="0" dirty="0">
                <a:solidFill>
                  <a:srgbClr val="92D050"/>
                </a:solidFill>
                <a:effectLst/>
                <a:latin typeface="Arial" panose="020B0604020202020204" pitchFamily="34" charset="0"/>
                <a:hlinkClick r:id="rId4">
                  <a:extLst>
                    <a:ext uri="{A12FA001-AC4F-418D-AE19-62706E023703}">
                      <ahyp:hlinkClr xmlns:ahyp="http://schemas.microsoft.com/office/drawing/2018/hyperlinkcolor" val="tx"/>
                    </a:ext>
                  </a:extLst>
                </a:hlinkClick>
              </a:rPr>
              <a:t>‘Record a goose sighting’ exercise</a:t>
            </a:r>
            <a:r>
              <a:rPr lang="en-GB" sz="2800" b="0" i="0" dirty="0">
                <a:solidFill>
                  <a:srgbClr val="467886"/>
                </a:solidFill>
                <a:effectLst/>
                <a:latin typeface="Arial" panose="020B0604020202020204" pitchFamily="34" charset="0"/>
                <a:hlinkClick r:id="rId4">
                  <a:extLst>
                    <a:ext uri="{A12FA001-AC4F-418D-AE19-62706E023703}">
                      <ahyp:hlinkClr xmlns:ahyp="http://schemas.microsoft.com/office/drawing/2018/hyperlinkcolor" val="tx"/>
                    </a:ext>
                  </a:extLst>
                </a:hlinkClick>
              </a:rPr>
              <a:t>.</a:t>
            </a:r>
            <a:endParaRPr lang="en-GB" sz="2800" b="0" i="0" dirty="0">
              <a:solidFill>
                <a:schemeClr val="bg1"/>
              </a:solidFill>
              <a:effectLst/>
              <a:latin typeface="Arial" panose="020B0604020202020204" pitchFamily="34" charset="0"/>
            </a:endParaRPr>
          </a:p>
          <a:p>
            <a:pPr marL="457200" indent="-457200" algn="l">
              <a:spcAft>
                <a:spcPts val="1500"/>
              </a:spcAft>
              <a:buFont typeface="Arial" panose="020B0604020202020204" pitchFamily="34" charset="0"/>
              <a:buChar char="•"/>
            </a:pPr>
            <a:r>
              <a:rPr lang="en-GB" sz="2800" b="0" i="0" dirty="0">
                <a:solidFill>
                  <a:schemeClr val="bg1"/>
                </a:solidFill>
                <a:effectLst/>
                <a:latin typeface="Arial" panose="020B0604020202020204" pitchFamily="34" charset="0"/>
              </a:rPr>
              <a:t>Built with an adapted </a:t>
            </a:r>
            <a:r>
              <a:rPr lang="en-GB" sz="2800" b="0" i="0" dirty="0">
                <a:solidFill>
                  <a:srgbClr val="92D050"/>
                </a:solidFill>
                <a:effectLst/>
                <a:latin typeface="Arial" panose="020B0604020202020204" pitchFamily="34" charset="0"/>
                <a:hlinkClick r:id="rId5">
                  <a:extLst>
                    <a:ext uri="{A12FA001-AC4F-418D-AE19-62706E023703}">
                      <ahyp:hlinkClr xmlns:ahyp="http://schemas.microsoft.com/office/drawing/2018/hyperlinkcolor" val="tx"/>
                    </a:ext>
                  </a:extLst>
                </a:hlinkClick>
              </a:rPr>
              <a:t>GOV.UK Prototype Kit </a:t>
            </a:r>
            <a:endParaRPr lang="en-GB" sz="2800" b="0" i="0" dirty="0">
              <a:solidFill>
                <a:srgbClr val="92D050"/>
              </a:solidFill>
              <a:effectLst/>
              <a:latin typeface="Arial" panose="020B0604020202020204" pitchFamily="34" charset="0"/>
            </a:endParaRPr>
          </a:p>
          <a:p>
            <a:pPr marL="457200" indent="-457200" algn="l">
              <a:spcAft>
                <a:spcPts val="1500"/>
              </a:spcAft>
              <a:buFont typeface="Arial" panose="020B0604020202020204" pitchFamily="34" charset="0"/>
              <a:buChar char="•"/>
            </a:pPr>
            <a:r>
              <a:rPr lang="en-GB" sz="2800" b="0" i="0" dirty="0">
                <a:solidFill>
                  <a:schemeClr val="bg1"/>
                </a:solidFill>
                <a:effectLst/>
                <a:latin typeface="Arial" panose="020B0604020202020204" pitchFamily="34" charset="0"/>
              </a:rPr>
              <a:t>Designed for workshops, self-led learning, and team exercises.</a:t>
            </a:r>
          </a:p>
          <a:p>
            <a:pPr marL="457200" indent="-457200" algn="l">
              <a:spcAft>
                <a:spcPts val="1500"/>
              </a:spcAft>
              <a:buFont typeface="Arial" panose="020B0604020202020204" pitchFamily="34" charset="0"/>
              <a:buChar char="•"/>
            </a:pPr>
            <a:r>
              <a:rPr lang="en-GB" sz="2800" b="0" i="0" dirty="0">
                <a:solidFill>
                  <a:schemeClr val="bg1"/>
                </a:solidFill>
                <a:effectLst/>
                <a:latin typeface="Arial" panose="020B0604020202020204" pitchFamily="34" charset="0"/>
              </a:rPr>
              <a:t>Each page fails one or more WCAG 2.2 AA criteria to encourage testing and discussion.</a:t>
            </a:r>
          </a:p>
          <a:p>
            <a:pPr marL="457200" indent="-457200" algn="l">
              <a:spcAft>
                <a:spcPts val="1500"/>
              </a:spcAft>
              <a:buFont typeface="Arial" panose="020B0604020202020204" pitchFamily="34" charset="0"/>
              <a:buChar char="•"/>
            </a:pPr>
            <a:r>
              <a:rPr lang="en-GB" sz="2800" b="0" i="0" dirty="0">
                <a:solidFill>
                  <a:schemeClr val="bg1"/>
                </a:solidFill>
                <a:effectLst/>
                <a:latin typeface="Arial" panose="020B0604020202020204" pitchFamily="34" charset="0"/>
              </a:rPr>
              <a:t>Explore or </a:t>
            </a:r>
            <a:r>
              <a:rPr lang="en-GB" sz="2800" b="0" i="0" dirty="0">
                <a:solidFill>
                  <a:srgbClr val="92D050"/>
                </a:solidFill>
                <a:effectLst/>
                <a:latin typeface="Arial" panose="020B0604020202020204" pitchFamily="34" charset="0"/>
                <a:hlinkClick r:id="rId6">
                  <a:extLst>
                    <a:ext uri="{A12FA001-AC4F-418D-AE19-62706E023703}">
                      <ahyp:hlinkClr xmlns:ahyp="http://schemas.microsoft.com/office/drawing/2018/hyperlinkcolor" val="tx"/>
                    </a:ext>
                  </a:extLst>
                </a:hlinkClick>
              </a:rPr>
              <a:t>contribute on GitHub </a:t>
            </a:r>
            <a:r>
              <a:rPr lang="en-GB" sz="2800" b="0" i="0" dirty="0">
                <a:solidFill>
                  <a:schemeClr val="bg1"/>
                </a:solidFill>
                <a:effectLst/>
                <a:latin typeface="Arial" panose="020B0604020202020204" pitchFamily="34" charset="0"/>
              </a:rPr>
              <a:t>and </a:t>
            </a:r>
            <a:r>
              <a:rPr lang="en-GB" sz="2800" b="0" i="0" dirty="0">
                <a:solidFill>
                  <a:srgbClr val="92D050"/>
                </a:solidFill>
                <a:effectLst/>
                <a:latin typeface="Arial" panose="020B0604020202020204" pitchFamily="34" charset="0"/>
                <a:hlinkClick r:id="rId7">
                  <a:extLst>
                    <a:ext uri="{A12FA001-AC4F-418D-AE19-62706E023703}">
                      <ahyp:hlinkClr xmlns:ahyp="http://schemas.microsoft.com/office/drawing/2018/hyperlinkcolor" val="tx"/>
                    </a:ext>
                  </a:extLst>
                </a:hlinkClick>
              </a:rPr>
              <a:t>share feedback</a:t>
            </a:r>
            <a:endParaRPr lang="en-GB" sz="2800" b="0" i="0" dirty="0">
              <a:solidFill>
                <a:srgbClr val="92D050"/>
              </a:solidFill>
              <a:effectLst/>
              <a:latin typeface="Arial" panose="020B0604020202020204" pitchFamily="34" charset="0"/>
            </a:endParaRPr>
          </a:p>
          <a:p>
            <a:pPr marL="457200" indent="-457200" algn="l">
              <a:spcAft>
                <a:spcPts val="1500"/>
              </a:spcAft>
              <a:buFont typeface="Arial" panose="020B0604020202020204" pitchFamily="34" charset="0"/>
              <a:buChar char="•"/>
            </a:pPr>
            <a:r>
              <a:rPr lang="en-GB" sz="2800" b="0" i="0" dirty="0">
                <a:solidFill>
                  <a:schemeClr val="bg1"/>
                </a:solidFill>
                <a:effectLst/>
                <a:latin typeface="Arial" panose="020B0604020202020204" pitchFamily="34" charset="0"/>
              </a:rPr>
              <a:t>Thanks to the cross-government accessibility community for inspiration</a:t>
            </a:r>
          </a:p>
        </p:txBody>
      </p:sp>
    </p:spTree>
    <p:extLst>
      <p:ext uri="{BB962C8B-B14F-4D97-AF65-F5344CB8AC3E}">
        <p14:creationId xmlns:p14="http://schemas.microsoft.com/office/powerpoint/2010/main" val="1898092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268</TotalTime>
  <Words>2009</Words>
  <Application>Microsoft Office PowerPoint</Application>
  <PresentationFormat>Widescreen</PresentationFormat>
  <Paragraphs>146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How to be a good ghost spotter – basic accessibility testing</vt:lpstr>
      <vt:lpstr>Record a ghost sighting</vt:lpstr>
      <vt:lpstr>Ghost spotting skills</vt:lpstr>
      <vt:lpstr>How to spot ghosts (accessibility issues)</vt:lpstr>
      <vt:lpstr>WAVE</vt:lpstr>
      <vt:lpstr>WAVE Order tab</vt:lpstr>
      <vt:lpstr>WAVE structure and contrast tabs</vt:lpstr>
      <vt:lpstr>Keyboard testing</vt:lpstr>
      <vt:lpstr>Keyboard commands</vt:lpstr>
      <vt:lpstr>Windows keyboard</vt:lpstr>
      <vt:lpstr>Apple keyboard</vt:lpstr>
      <vt:lpstr>About this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Lori Thomson</dc:creator>
  <cp:lastModifiedBy>Lori Thomson</cp:lastModifiedBy>
  <cp:revision>329</cp:revision>
  <dcterms:created xsi:type="dcterms:W3CDTF">2025-10-31T14:37:28Z</dcterms:created>
  <dcterms:modified xsi:type="dcterms:W3CDTF">2025-11-06T11:57:00Z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a6745fb-3f26-4c57-86f8-58701135f02c_Enabled">
    <vt:lpwstr>true</vt:lpwstr>
  </property>
  <property fmtid="{D5CDD505-2E9C-101B-9397-08002B2CF9AE}" pid="3" name="MSIP_Label_aa6745fb-3f26-4c57-86f8-58701135f02c_SetDate">
    <vt:lpwstr>2025-11-03T15:42:08Z</vt:lpwstr>
  </property>
  <property fmtid="{D5CDD505-2E9C-101B-9397-08002B2CF9AE}" pid="4" name="MSIP_Label_aa6745fb-3f26-4c57-86f8-58701135f02c_Method">
    <vt:lpwstr>Privileged</vt:lpwstr>
  </property>
  <property fmtid="{D5CDD505-2E9C-101B-9397-08002B2CF9AE}" pid="5" name="MSIP_Label_aa6745fb-3f26-4c57-86f8-58701135f02c_Name">
    <vt:lpwstr>NO MARKING (PUBLIC)</vt:lpwstr>
  </property>
  <property fmtid="{D5CDD505-2E9C-101B-9397-08002B2CF9AE}" pid="6" name="MSIP_Label_aa6745fb-3f26-4c57-86f8-58701135f02c_SiteId">
    <vt:lpwstr>4c6898a9-8fca-42f9-aa92-82cb3e252bc6</vt:lpwstr>
  </property>
  <property fmtid="{D5CDD505-2E9C-101B-9397-08002B2CF9AE}" pid="7" name="MSIP_Label_aa6745fb-3f26-4c57-86f8-58701135f02c_ActionId">
    <vt:lpwstr>dc473383-0401-4b84-b06f-33c55b8919d6</vt:lpwstr>
  </property>
  <property fmtid="{D5CDD505-2E9C-101B-9397-08002B2CF9AE}" pid="8" name="MSIP_Label_aa6745fb-3f26-4c57-86f8-58701135f02c_ContentBits">
    <vt:lpwstr>0</vt:lpwstr>
  </property>
  <property fmtid="{D5CDD505-2E9C-101B-9397-08002B2CF9AE}" pid="9" name="MSIP_Label_aa6745fb-3f26-4c57-86f8-58701135f02c_Tag">
    <vt:lpwstr>10, 0, 1, 1</vt:lpwstr>
  </property>
</Properties>
</file>